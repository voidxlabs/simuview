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8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6858000" cy="9144000"/>
  <p:embeddedFontLst>
    <p:embeddedFont>
      <p:font typeface="Lato" panose="020F0502020204030203" pitchFamily="34" charset="0"/>
      <p:regular r:id="rId15"/>
      <p:bold r:id="rId16"/>
      <p:italic r:id="rId17"/>
      <p:boldItalic r:id="rId18"/>
    </p:embeddedFont>
    <p:embeddedFont>
      <p:font typeface="Poppins" panose="00000500000000000000" pitchFamily="2" charset="0"/>
      <p:regular r:id="rId19"/>
      <p:bold r:id="rId20"/>
      <p:italic r:id="rId21"/>
      <p:boldItalic r:id="rId22"/>
    </p:embeddedFont>
    <p:embeddedFont>
      <p:font typeface="Poppins Medium" panose="00000600000000000000" pitchFamily="2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91" userDrawn="1">
          <p15:clr>
            <a:srgbClr val="000000"/>
          </p15:clr>
        </p15:guide>
        <p15:guide id="2" pos="2880" userDrawn="1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85" d="100"/>
          <a:sy n="85" d="100"/>
        </p:scale>
        <p:origin x="90" y="90"/>
      </p:cViewPr>
      <p:guideLst>
        <p:guide orient="horz" pos="2191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>
          <a:extLst>
            <a:ext uri="{FF2B5EF4-FFF2-40B4-BE49-F238E27FC236}">
              <a16:creationId xmlns:a16="http://schemas.microsoft.com/office/drawing/2014/main" id="{32C57E61-52E2-B0B1-1802-C39B7BE52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5:notes">
            <a:extLst>
              <a:ext uri="{FF2B5EF4-FFF2-40B4-BE49-F238E27FC236}">
                <a16:creationId xmlns:a16="http://schemas.microsoft.com/office/drawing/2014/main" id="{BE4B82D4-0ECA-09C6-5422-8964835952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5:notes">
            <a:extLst>
              <a:ext uri="{FF2B5EF4-FFF2-40B4-BE49-F238E27FC236}">
                <a16:creationId xmlns:a16="http://schemas.microsoft.com/office/drawing/2014/main" id="{78EBB059-48BB-8098-56F1-7C3BBA9CED0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17471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" name="Google Shape;27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1095375" y="2464147"/>
            <a:ext cx="10001250" cy="1279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基于大模型（LLM）的智能全真模拟面试与评估系统需求分析</a:t>
            </a:r>
          </a:p>
        </p:txBody>
      </p:sp>
      <p:sp>
        <p:nvSpPr>
          <p:cNvPr id="87" name="Google Shape;87;p13"/>
          <p:cNvSpPr txBox="1"/>
          <p:nvPr/>
        </p:nvSpPr>
        <p:spPr>
          <a:xfrm>
            <a:off x="1333500" y="3934569"/>
            <a:ext cx="95250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《软件工程》第三章需求分析讨论课</a:t>
            </a:r>
          </a:p>
        </p:txBody>
      </p:sp>
      <p:sp>
        <p:nvSpPr>
          <p:cNvPr id="89" name="Google Shape;89;p13"/>
          <p:cNvSpPr txBox="1"/>
          <p:nvPr/>
        </p:nvSpPr>
        <p:spPr>
          <a:xfrm>
            <a:off x="1333500" y="4776489"/>
            <a:ext cx="9525000" cy="368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项目成员：</a:t>
            </a:r>
            <a:r>
              <a:rPr lang="zh-CN" altLang="en-US" sz="1500" b="0" i="0" u="none" strike="noStrike" cap="none">
                <a:solidFill>
                  <a:srgbClr val="CBD5E1"/>
                </a:solidFill>
                <a:latin typeface="Lato"/>
                <a:ea typeface="宋体" charset="0"/>
                <a:cs typeface="Lato"/>
                <a:sym typeface="Lato"/>
              </a:rPr>
              <a:t>符淏</a:t>
            </a:r>
            <a:r>
              <a:rPr lang="en-US" altLang="zh-CN" sz="1500" b="0" i="0" u="none" strike="noStrike" cap="none">
                <a:solidFill>
                  <a:srgbClr val="CBD5E1"/>
                </a:solidFill>
                <a:latin typeface="Lato"/>
                <a:ea typeface="宋体" charset="0"/>
                <a:cs typeface="Lato"/>
                <a:sym typeface="Lato"/>
              </a:rPr>
              <a:t> </a:t>
            </a:r>
            <a:r>
              <a:rPr lang="zh-CN" altLang="en-US" sz="1500" b="0" i="0" u="none" strike="noStrike" cap="none">
                <a:solidFill>
                  <a:srgbClr val="CBD5E1"/>
                </a:solidFill>
                <a:latin typeface="Lato"/>
                <a:ea typeface="宋体" charset="0"/>
                <a:cs typeface="Lato"/>
                <a:sym typeface="Lato"/>
              </a:rPr>
              <a:t>宋海东</a:t>
            </a:r>
            <a:r>
              <a:rPr lang="en-US" altLang="zh-CN" sz="1500" b="0" i="0" u="none" strike="noStrike" cap="none">
                <a:solidFill>
                  <a:srgbClr val="CBD5E1"/>
                </a:solidFill>
                <a:latin typeface="Lato"/>
                <a:ea typeface="宋体" charset="0"/>
                <a:cs typeface="Lato"/>
                <a:sym typeface="Lato"/>
              </a:rPr>
              <a:t> </a:t>
            </a:r>
            <a:r>
              <a:rPr lang="zh-CN" altLang="en-US" sz="1500" b="0" i="0" u="none" strike="noStrike" cap="none">
                <a:solidFill>
                  <a:srgbClr val="CBD5E1"/>
                </a:solidFill>
                <a:latin typeface="Lato"/>
                <a:ea typeface="宋体" charset="0"/>
                <a:cs typeface="Lato"/>
                <a:sym typeface="Lato"/>
              </a:rPr>
              <a:t>李宇翔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/>
          <p:nvPr/>
        </p:nvSpPr>
        <p:spPr>
          <a:xfrm>
            <a:off x="545307" y="2476500"/>
            <a:ext cx="5550693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19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 err="1">
                <a:solidFill>
                  <a:srgbClr val="06B6D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选题背景</a:t>
            </a:r>
            <a:endParaRPr lang="en-US" sz="2100" b="0" i="0" u="none" strike="noStrike" cap="none" dirty="0">
              <a:solidFill>
                <a:srgbClr val="06B6D4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6334127" y="2476500"/>
            <a:ext cx="5550693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86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 err="1">
                <a:solidFill>
                  <a:srgbClr val="06B6D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团队分工</a:t>
            </a:r>
            <a:endParaRPr lang="en-US" sz="2100" b="0" i="0" u="none" strike="noStrike" cap="none" dirty="0">
              <a:solidFill>
                <a:srgbClr val="06B6D4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98" name="Google Shape;98;p14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577322" y="2486025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783432" y="3019425"/>
            <a:ext cx="50482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传统痛点</a:t>
            </a:r>
            <a:r>
              <a:rPr lang="en-US" sz="1500" b="1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：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传统模拟面试高度依赖人力，效率低下；现有招聘系统多为纯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CRUD（增删改查）模式，缺乏真实的互动反馈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。</a:t>
            </a:r>
          </a:p>
        </p:txBody>
      </p:sp>
      <p:sp>
        <p:nvSpPr>
          <p:cNvPr id="102" name="Google Shape;102;p14"/>
          <p:cNvSpPr txBox="1"/>
          <p:nvPr/>
        </p:nvSpPr>
        <p:spPr>
          <a:xfrm>
            <a:off x="783432" y="4076700"/>
            <a:ext cx="50482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解决方案</a:t>
            </a:r>
            <a:r>
              <a:rPr lang="en-US" sz="1500" b="1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：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团队决定引入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LLM (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大语言模型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)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结合语音交互，解决高校学生或求职者面试经验不足、缺乏专业复盘的问题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。</a:t>
            </a:r>
          </a:p>
        </p:txBody>
      </p:sp>
      <p:pic>
        <p:nvPicPr>
          <p:cNvPr id="103" name="Google Shape;103;p14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6334127" y="2486025"/>
            <a:ext cx="33337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572252" y="3019425"/>
            <a:ext cx="5048250" cy="368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500" b="1" i="0" u="none" strike="noStrike" cap="none">
                <a:solidFill>
                  <a:srgbClr val="CBD5E1"/>
                </a:solidFill>
                <a:latin typeface="Lato"/>
                <a:ea typeface="宋体" charset="0"/>
                <a:cs typeface="Lato"/>
                <a:sym typeface="Lato"/>
              </a:rPr>
              <a:t>符淏</a:t>
            </a:r>
            <a:r>
              <a:rPr lang="en-US" sz="1500" b="1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：</a:t>
            </a: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需求统筹与讨论课 PPT 汇报。</a:t>
            </a:r>
          </a:p>
        </p:txBody>
      </p:sp>
      <p:sp>
        <p:nvSpPr>
          <p:cNvPr id="107" name="Google Shape;107;p14"/>
          <p:cNvSpPr txBox="1"/>
          <p:nvPr/>
        </p:nvSpPr>
        <p:spPr>
          <a:xfrm>
            <a:off x="6572252" y="3467100"/>
            <a:ext cx="5048250" cy="368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500" b="1">
                <a:solidFill>
                  <a:srgbClr val="CBD5E1"/>
                </a:solidFill>
                <a:latin typeface="Lato"/>
                <a:ea typeface="宋体" charset="0"/>
                <a:cs typeface="Lato"/>
                <a:sym typeface="Lato"/>
              </a:rPr>
              <a:t>符淏</a:t>
            </a:r>
            <a:r>
              <a:rPr lang="en-US" sz="1500" b="1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：</a:t>
            </a: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客户端子系统需求分析与交互建模。</a:t>
            </a:r>
          </a:p>
        </p:txBody>
      </p:sp>
      <p:sp>
        <p:nvSpPr>
          <p:cNvPr id="109" name="Google Shape;109;p14"/>
          <p:cNvSpPr txBox="1"/>
          <p:nvPr/>
        </p:nvSpPr>
        <p:spPr>
          <a:xfrm>
            <a:off x="6572252" y="3914775"/>
            <a:ext cx="5048250" cy="368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500" b="1" i="0" u="none" strike="noStrike" cap="none" dirty="0">
                <a:solidFill>
                  <a:srgbClr val="CBD5E1"/>
                </a:solidFill>
                <a:latin typeface="Lato"/>
                <a:ea typeface="宋体" charset="0"/>
                <a:cs typeface="Lato"/>
                <a:sym typeface="Lato"/>
              </a:rPr>
              <a:t>宋海东</a:t>
            </a:r>
            <a:r>
              <a:rPr lang="en-US" sz="1500" b="1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：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管理端子系统与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AI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服务交互建模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。</a:t>
            </a:r>
          </a:p>
        </p:txBody>
      </p:sp>
      <p:sp>
        <p:nvSpPr>
          <p:cNvPr id="111" name="Google Shape;111;p14"/>
          <p:cNvSpPr txBox="1"/>
          <p:nvPr/>
        </p:nvSpPr>
        <p:spPr>
          <a:xfrm>
            <a:off x="6572252" y="4362450"/>
            <a:ext cx="5048250" cy="368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500" b="1" i="0" u="none" strike="noStrike" cap="none">
                <a:solidFill>
                  <a:srgbClr val="CBD5E1"/>
                </a:solidFill>
                <a:latin typeface="Lato"/>
                <a:ea typeface="宋体" charset="0"/>
                <a:cs typeface="Lato"/>
                <a:sym typeface="Lato"/>
              </a:rPr>
              <a:t>李宇翔</a:t>
            </a:r>
            <a:r>
              <a:rPr lang="en-US" sz="1500" b="1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：</a:t>
            </a: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需求验证与《规格说明书》文档规范化。</a:t>
            </a:r>
          </a:p>
        </p:txBody>
      </p:sp>
      <p:sp>
        <p:nvSpPr>
          <p:cNvPr id="113" name="Google Shape;113;p14"/>
          <p:cNvSpPr txBox="1"/>
          <p:nvPr/>
        </p:nvSpPr>
        <p:spPr>
          <a:xfrm>
            <a:off x="571500" y="3048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 dirty="0">
                <a:solidFill>
                  <a:srgbClr val="F8FAF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01 </a:t>
            </a:r>
            <a:r>
              <a:rPr lang="en-US" sz="3000" b="0" i="0" u="none" strike="noStrike" cap="none" dirty="0" err="1">
                <a:solidFill>
                  <a:srgbClr val="3B82F6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选题过程与团队分工</a:t>
            </a:r>
            <a:endParaRPr lang="en-US" sz="3000" b="0" i="0" u="none" strike="noStrike" cap="none" dirty="0">
              <a:solidFill>
                <a:srgbClr val="3B82F6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14" name="Google Shape;114;p14"/>
          <p:cNvSpPr/>
          <p:nvPr/>
        </p:nvSpPr>
        <p:spPr>
          <a:xfrm>
            <a:off x="571500" y="1019175"/>
            <a:ext cx="11049000" cy="190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5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5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571500" y="1819275"/>
            <a:ext cx="5286375" cy="433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5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6334125" y="1819275"/>
            <a:ext cx="5286375" cy="433387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962025" y="2209800"/>
            <a:ext cx="4730591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000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 err="1">
                <a:solidFill>
                  <a:srgbClr val="06B6D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分析方法</a:t>
            </a:r>
            <a:r>
              <a:rPr lang="en-US" sz="2100" b="0" i="0" u="none" strike="noStrike" cap="none" dirty="0">
                <a:solidFill>
                  <a:srgbClr val="06B6D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(OOA)</a:t>
            </a:r>
          </a:p>
        </p:txBody>
      </p:sp>
      <p:sp>
        <p:nvSpPr>
          <p:cNvPr id="123" name="Google Shape;123;p15"/>
          <p:cNvSpPr txBox="1"/>
          <p:nvPr/>
        </p:nvSpPr>
        <p:spPr>
          <a:xfrm>
            <a:off x="962025" y="2752725"/>
            <a:ext cx="45053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本项目采用</a:t>
            </a:r>
            <a:r>
              <a:rPr lang="en-US" sz="1500" b="1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面向对象分析方法</a:t>
            </a:r>
            <a:r>
              <a:rPr lang="en-US" sz="1500" b="1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(OOA)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，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通过抽象客观世界中的实体，建立软件系统的模型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。</a:t>
            </a:r>
          </a:p>
        </p:txBody>
      </p:sp>
      <p:sp>
        <p:nvSpPr>
          <p:cNvPr id="124" name="Google Shape;124;p15"/>
          <p:cNvSpPr txBox="1"/>
          <p:nvPr/>
        </p:nvSpPr>
        <p:spPr>
          <a:xfrm>
            <a:off x="6724650" y="2209800"/>
            <a:ext cx="4730591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19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6B6D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核心分析活动</a:t>
            </a:r>
          </a:p>
        </p:txBody>
      </p:sp>
      <p:sp>
        <p:nvSpPr>
          <p:cNvPr id="125" name="Google Shape;125;p15"/>
          <p:cNvSpPr txBox="1"/>
          <p:nvPr/>
        </p:nvSpPr>
        <p:spPr>
          <a:xfrm>
            <a:off x="6724650" y="2752725"/>
            <a:ext cx="45053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在讨论课准备期间，团队推进了以下核心活动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：</a:t>
            </a:r>
          </a:p>
        </p:txBody>
      </p:sp>
      <p:pic>
        <p:nvPicPr>
          <p:cNvPr id="126" name="Google Shape;126;p15" descr="image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962025" y="2266950"/>
            <a:ext cx="3048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5"/>
          <p:cNvSpPr txBox="1"/>
          <p:nvPr/>
        </p:nvSpPr>
        <p:spPr>
          <a:xfrm>
            <a:off x="1085850" y="350520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</a:p>
        </p:txBody>
      </p:sp>
      <p:sp>
        <p:nvSpPr>
          <p:cNvPr id="128" name="Google Shape;128;p15"/>
          <p:cNvSpPr txBox="1"/>
          <p:nvPr/>
        </p:nvSpPr>
        <p:spPr>
          <a:xfrm>
            <a:off x="1200150" y="3505200"/>
            <a:ext cx="4267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使用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1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UML (</a:t>
            </a:r>
            <a:r>
              <a:rPr lang="en-US" sz="1500" b="1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统一建模语言</a:t>
            </a:r>
            <a:r>
              <a:rPr lang="en-US" sz="1500" b="1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)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作为主要的建模工具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。</a:t>
            </a:r>
          </a:p>
        </p:txBody>
      </p:sp>
      <p:sp>
        <p:nvSpPr>
          <p:cNvPr id="129" name="Google Shape;129;p15"/>
          <p:cNvSpPr txBox="1"/>
          <p:nvPr/>
        </p:nvSpPr>
        <p:spPr>
          <a:xfrm>
            <a:off x="1085850" y="3952875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</a:p>
        </p:txBody>
      </p:sp>
      <p:sp>
        <p:nvSpPr>
          <p:cNvPr id="130" name="Google Shape;130;p15"/>
          <p:cNvSpPr txBox="1"/>
          <p:nvPr/>
        </p:nvSpPr>
        <p:spPr>
          <a:xfrm>
            <a:off x="1200150" y="3952875"/>
            <a:ext cx="4267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从静态结构（角色、实体）和动态行为（流程、状态）两个层面界定系统的特征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。</a:t>
            </a:r>
          </a:p>
        </p:txBody>
      </p:sp>
      <p:sp>
        <p:nvSpPr>
          <p:cNvPr id="131" name="Google Shape;131;p15"/>
          <p:cNvSpPr txBox="1"/>
          <p:nvPr/>
        </p:nvSpPr>
        <p:spPr>
          <a:xfrm>
            <a:off x="1085850" y="470535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</a:p>
        </p:txBody>
      </p:sp>
      <p:sp>
        <p:nvSpPr>
          <p:cNvPr id="132" name="Google Shape;132;p15"/>
          <p:cNvSpPr txBox="1"/>
          <p:nvPr/>
        </p:nvSpPr>
        <p:spPr>
          <a:xfrm>
            <a:off x="1200150" y="4705350"/>
            <a:ext cx="4267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确保需求分析的可追溯性与逻辑的严密性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。</a:t>
            </a:r>
          </a:p>
        </p:txBody>
      </p:sp>
      <p:pic>
        <p:nvPicPr>
          <p:cNvPr id="133" name="Google Shape;133;p15" descr="image.png"/>
          <p:cNvPicPr preferRelativeResize="0"/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6724650" y="2266950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5"/>
          <p:cNvSpPr txBox="1"/>
          <p:nvPr/>
        </p:nvSpPr>
        <p:spPr>
          <a:xfrm>
            <a:off x="6848475" y="320040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</a:p>
        </p:txBody>
      </p:sp>
      <p:sp>
        <p:nvSpPr>
          <p:cNvPr id="135" name="Google Shape;135;p15"/>
          <p:cNvSpPr txBox="1"/>
          <p:nvPr/>
        </p:nvSpPr>
        <p:spPr>
          <a:xfrm>
            <a:off x="6962775" y="3200400"/>
            <a:ext cx="4267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资料查阅</a:t>
            </a:r>
            <a:r>
              <a:rPr lang="en-US" sz="1500" b="1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：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深度查阅了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OpenAI API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以及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通义千问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API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官方开发文档，明确了流式交互与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Prompt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构建的技术边界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。</a:t>
            </a:r>
          </a:p>
        </p:txBody>
      </p:sp>
      <p:sp>
        <p:nvSpPr>
          <p:cNvPr id="136" name="Google Shape;136;p15"/>
          <p:cNvSpPr txBox="1"/>
          <p:nvPr/>
        </p:nvSpPr>
        <p:spPr>
          <a:xfrm>
            <a:off x="6848475" y="4257675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</a:p>
        </p:txBody>
      </p:sp>
      <p:sp>
        <p:nvSpPr>
          <p:cNvPr id="137" name="Google Shape;137;p15"/>
          <p:cNvSpPr txBox="1"/>
          <p:nvPr/>
        </p:nvSpPr>
        <p:spPr>
          <a:xfrm>
            <a:off x="6962775" y="4257675"/>
            <a:ext cx="4267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需求启发与建模</a:t>
            </a:r>
            <a:r>
              <a:rPr lang="en-US" sz="1500" b="1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：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进行头脑风暴，绘制了系统的</a:t>
            </a:r>
            <a:r>
              <a:rPr lang="en-US" sz="1500" b="1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全局用例图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、</a:t>
            </a:r>
            <a:r>
              <a:rPr lang="en-US" sz="1500" b="1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活动图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以及核心状态机模型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。</a:t>
            </a:r>
          </a:p>
        </p:txBody>
      </p:sp>
      <p:sp>
        <p:nvSpPr>
          <p:cNvPr id="138" name="Google Shape;138;p15"/>
          <p:cNvSpPr txBox="1"/>
          <p:nvPr/>
        </p:nvSpPr>
        <p:spPr>
          <a:xfrm>
            <a:off x="6848475" y="501015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</a:p>
        </p:txBody>
      </p:sp>
      <p:sp>
        <p:nvSpPr>
          <p:cNvPr id="139" name="Google Shape;139;p15"/>
          <p:cNvSpPr txBox="1"/>
          <p:nvPr/>
        </p:nvSpPr>
        <p:spPr>
          <a:xfrm>
            <a:off x="6962775" y="5010150"/>
            <a:ext cx="4267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冲突检查</a:t>
            </a:r>
            <a:r>
              <a:rPr lang="en-US" sz="1500" b="1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：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对前后端交互的数据流进行边界异常情况推演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。</a:t>
            </a:r>
          </a:p>
        </p:txBody>
      </p:sp>
      <p:sp>
        <p:nvSpPr>
          <p:cNvPr id="140" name="Google Shape;140;p15"/>
          <p:cNvSpPr txBox="1"/>
          <p:nvPr/>
        </p:nvSpPr>
        <p:spPr>
          <a:xfrm>
            <a:off x="571500" y="47625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F8FAF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02 </a:t>
            </a:r>
            <a:r>
              <a:rPr lang="en-US" sz="3000" b="0" i="0" u="none" strike="noStrike" cap="none">
                <a:solidFill>
                  <a:srgbClr val="3B82F6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需求分析方法与活动</a:t>
            </a:r>
          </a:p>
        </p:txBody>
      </p:sp>
      <p:sp>
        <p:nvSpPr>
          <p:cNvPr id="141" name="Google Shape;141;p15"/>
          <p:cNvSpPr/>
          <p:nvPr/>
        </p:nvSpPr>
        <p:spPr>
          <a:xfrm>
            <a:off x="571500" y="1190625"/>
            <a:ext cx="11049000" cy="190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16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 txBox="1"/>
          <p:nvPr/>
        </p:nvSpPr>
        <p:spPr>
          <a:xfrm>
            <a:off x="571500" y="571500"/>
            <a:ext cx="5550693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 dirty="0">
                <a:solidFill>
                  <a:srgbClr val="F8FAF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03 </a:t>
            </a:r>
            <a:r>
              <a:rPr lang="en-US" sz="3000" b="0" i="0" u="none" strike="noStrike" cap="none" dirty="0" err="1">
                <a:solidFill>
                  <a:srgbClr val="3B82F6"/>
                </a:solidFill>
                <a:latin typeface="+mj-ea"/>
                <a:ea typeface="+mj-ea"/>
                <a:cs typeface="Poppins Medium"/>
                <a:sym typeface="Poppins Medium"/>
              </a:rPr>
              <a:t>系统的目的、意义及范围</a:t>
            </a:r>
            <a:endParaRPr lang="en-US" sz="3000" b="0" i="0" u="none" strike="noStrike" cap="none" dirty="0">
              <a:solidFill>
                <a:srgbClr val="3B82F6"/>
              </a:solidFill>
              <a:latin typeface="+mj-ea"/>
              <a:ea typeface="+mj-ea"/>
              <a:cs typeface="Poppins Medium"/>
              <a:sym typeface="Poppins Medium"/>
            </a:endParaRPr>
          </a:p>
        </p:txBody>
      </p:sp>
      <p:sp>
        <p:nvSpPr>
          <p:cNvPr id="148" name="Google Shape;148;p16"/>
          <p:cNvSpPr/>
          <p:nvPr/>
        </p:nvSpPr>
        <p:spPr>
          <a:xfrm>
            <a:off x="571500" y="1285875"/>
            <a:ext cx="5286375" cy="190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9" name="Google Shape;149;p16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6122193" y="0"/>
            <a:ext cx="6069807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6"/>
          <p:cNvSpPr txBox="1"/>
          <p:nvPr/>
        </p:nvSpPr>
        <p:spPr>
          <a:xfrm>
            <a:off x="571500" y="1685925"/>
            <a:ext cx="5550693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 err="1">
                <a:solidFill>
                  <a:srgbClr val="06B6D4"/>
                </a:solidFill>
                <a:latin typeface="+mj-ea"/>
                <a:ea typeface="+mj-ea"/>
                <a:cs typeface="Poppins Medium"/>
                <a:sym typeface="Poppins Medium"/>
              </a:rPr>
              <a:t>项目目的与社会意义</a:t>
            </a:r>
            <a:endParaRPr lang="en-US" sz="2100" b="0" i="0" u="none" strike="noStrike" cap="none" dirty="0">
              <a:solidFill>
                <a:srgbClr val="06B6D4"/>
              </a:solidFill>
              <a:latin typeface="+mj-ea"/>
              <a:ea typeface="+mj-ea"/>
              <a:cs typeface="Poppins Medium"/>
              <a:sym typeface="Poppins Medium"/>
            </a:endParaRPr>
          </a:p>
        </p:txBody>
      </p:sp>
      <p:sp>
        <p:nvSpPr>
          <p:cNvPr id="151" name="Google Shape;151;p16"/>
          <p:cNvSpPr txBox="1"/>
          <p:nvPr/>
        </p:nvSpPr>
        <p:spPr>
          <a:xfrm>
            <a:off x="571500" y="2228850"/>
            <a:ext cx="5286375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CBD5E1"/>
                </a:solidFill>
                <a:latin typeface="+mn-ea"/>
                <a:ea typeface="+mn-ea"/>
                <a:cs typeface="Lato"/>
                <a:sym typeface="Lato"/>
              </a:rPr>
              <a:t>利用大语言模型（LLM）的生成能力和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+mn-ea"/>
                <a:ea typeface="+mn-ea"/>
                <a:cs typeface="Lato"/>
                <a:sym typeface="Lato"/>
              </a:rPr>
              <a:t> STT/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+mn-ea"/>
                <a:ea typeface="+mn-ea"/>
                <a:cs typeface="Lato"/>
                <a:sym typeface="Lato"/>
              </a:rPr>
              <a:t>TTS（语音转文本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+mn-ea"/>
                <a:ea typeface="+mn-ea"/>
                <a:cs typeface="Lato"/>
                <a:sym typeface="Lato"/>
              </a:rPr>
              <a:t>/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+mn-ea"/>
                <a:ea typeface="+mn-ea"/>
                <a:cs typeface="Lato"/>
                <a:sym typeface="Lato"/>
              </a:rPr>
              <a:t>文本转语音）交互技术，为求职者提供低成本、高可用的</a:t>
            </a:r>
            <a:r>
              <a:rPr lang="en-US" sz="1500" b="1" i="0" u="none" strike="noStrike" cap="none" dirty="0" err="1">
                <a:solidFill>
                  <a:srgbClr val="CBD5E1"/>
                </a:solidFill>
                <a:latin typeface="+mn-ea"/>
                <a:ea typeface="+mn-ea"/>
                <a:cs typeface="Lato"/>
                <a:sym typeface="Lato"/>
              </a:rPr>
              <a:t>“沉浸式”全真模拟面试体验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+mn-ea"/>
                <a:ea typeface="+mn-ea"/>
                <a:cs typeface="Lato"/>
                <a:sym typeface="Lato"/>
              </a:rPr>
              <a:t>，助力青年群体跨越就业面试的经验鸿沟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+mn-ea"/>
                <a:ea typeface="+mn-ea"/>
                <a:cs typeface="Lato"/>
                <a:sym typeface="Lato"/>
              </a:rPr>
              <a:t>。</a:t>
            </a:r>
          </a:p>
        </p:txBody>
      </p:sp>
      <p:sp>
        <p:nvSpPr>
          <p:cNvPr id="152" name="Google Shape;152;p16"/>
          <p:cNvSpPr txBox="1"/>
          <p:nvPr/>
        </p:nvSpPr>
        <p:spPr>
          <a:xfrm>
            <a:off x="571500" y="3916560"/>
            <a:ext cx="5550693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 err="1">
                <a:solidFill>
                  <a:srgbClr val="06B6D4"/>
                </a:solidFill>
                <a:latin typeface="+mj-ea"/>
                <a:ea typeface="+mj-ea"/>
                <a:cs typeface="Poppins Medium"/>
                <a:sym typeface="Poppins Medium"/>
              </a:rPr>
              <a:t>系统边界与业务范围</a:t>
            </a:r>
            <a:endParaRPr lang="en-US" sz="2100" b="0" i="0" u="none" strike="noStrike" cap="none" dirty="0">
              <a:solidFill>
                <a:srgbClr val="06B6D4"/>
              </a:solidFill>
              <a:latin typeface="+mj-ea"/>
              <a:ea typeface="+mj-ea"/>
              <a:cs typeface="Poppins Medium"/>
              <a:sym typeface="Poppins Medium"/>
            </a:endParaRPr>
          </a:p>
        </p:txBody>
      </p:sp>
      <p:sp>
        <p:nvSpPr>
          <p:cNvPr id="153" name="Google Shape;153;p16"/>
          <p:cNvSpPr txBox="1"/>
          <p:nvPr/>
        </p:nvSpPr>
        <p:spPr>
          <a:xfrm>
            <a:off x="571500" y="4459485"/>
            <a:ext cx="52863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 err="1">
                <a:solidFill>
                  <a:srgbClr val="CBD5E1"/>
                </a:solidFill>
                <a:latin typeface="+mn-ea"/>
                <a:ea typeface="+mn-ea"/>
                <a:cs typeface="Lato"/>
                <a:sym typeface="Lato"/>
              </a:rPr>
              <a:t>本系统从根本上突破了传统表单驱动的设计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+mn-ea"/>
                <a:ea typeface="+mn-ea"/>
                <a:cs typeface="Lato"/>
                <a:sym typeface="Lato"/>
              </a:rPr>
              <a:t>：</a:t>
            </a:r>
          </a:p>
        </p:txBody>
      </p:sp>
      <p:sp>
        <p:nvSpPr>
          <p:cNvPr id="154" name="Google Shape;154;p16"/>
          <p:cNvSpPr txBox="1"/>
          <p:nvPr/>
        </p:nvSpPr>
        <p:spPr>
          <a:xfrm>
            <a:off x="571500" y="4947046"/>
            <a:ext cx="52863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en-US" sz="1500" b="1" dirty="0" err="1">
                <a:solidFill>
                  <a:srgbClr val="CBD5E1"/>
                </a:solidFill>
                <a:latin typeface="+mn-ea"/>
                <a:ea typeface="+mn-ea"/>
                <a:cs typeface="Lato"/>
                <a:sym typeface="Lato"/>
              </a:rPr>
              <a:t>流式互动</a:t>
            </a:r>
            <a:r>
              <a:rPr lang="en-US" sz="1500" dirty="0">
                <a:solidFill>
                  <a:srgbClr val="CBD5E1"/>
                </a:solidFill>
                <a:latin typeface="+mn-ea"/>
                <a:ea typeface="+mn-ea"/>
                <a:cs typeface="Lato"/>
                <a:sym typeface="Lato"/>
              </a:rPr>
              <a:t>： </a:t>
            </a:r>
            <a:r>
              <a:rPr lang="en-US" sz="1500" dirty="0" err="1">
                <a:solidFill>
                  <a:srgbClr val="CBD5E1"/>
                </a:solidFill>
                <a:latin typeface="+mn-ea"/>
                <a:ea typeface="+mn-ea"/>
                <a:cs typeface="Lato"/>
                <a:sym typeface="Lato"/>
              </a:rPr>
              <a:t>实现由状态机驱动的实时音视频交互流</a:t>
            </a:r>
            <a:r>
              <a:rPr lang="en-US" sz="1500" dirty="0">
                <a:solidFill>
                  <a:srgbClr val="CBD5E1"/>
                </a:solidFill>
                <a:latin typeface="+mn-ea"/>
                <a:ea typeface="+mn-ea"/>
                <a:cs typeface="Lato"/>
                <a:sym typeface="Lato"/>
              </a:rPr>
              <a:t>。</a:t>
            </a:r>
          </a:p>
        </p:txBody>
      </p:sp>
      <p:sp>
        <p:nvSpPr>
          <p:cNvPr id="155" name="Google Shape;155;p16"/>
          <p:cNvSpPr txBox="1"/>
          <p:nvPr/>
        </p:nvSpPr>
        <p:spPr>
          <a:xfrm>
            <a:off x="571500" y="5347096"/>
            <a:ext cx="52863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en-US" sz="1500" b="1" dirty="0" err="1">
                <a:solidFill>
                  <a:srgbClr val="CBD5E1"/>
                </a:solidFill>
                <a:latin typeface="+mn-ea"/>
                <a:ea typeface="+mn-ea"/>
                <a:cs typeface="Lato"/>
                <a:sym typeface="Lato"/>
              </a:rPr>
              <a:t>客户端子系统</a:t>
            </a:r>
            <a:r>
              <a:rPr lang="en-US" sz="1500" dirty="0">
                <a:solidFill>
                  <a:srgbClr val="CBD5E1"/>
                </a:solidFill>
                <a:latin typeface="+mn-ea"/>
                <a:ea typeface="+mn-ea"/>
                <a:cs typeface="Lato"/>
                <a:sym typeface="Lato"/>
              </a:rPr>
              <a:t>： </a:t>
            </a:r>
            <a:r>
              <a:rPr lang="en-US" sz="1500" dirty="0" err="1">
                <a:solidFill>
                  <a:srgbClr val="CBD5E1"/>
                </a:solidFill>
                <a:latin typeface="+mn-ea"/>
                <a:ea typeface="+mn-ea"/>
                <a:cs typeface="Lato"/>
                <a:sym typeface="Lato"/>
              </a:rPr>
              <a:t>聚焦面试过程控制、简历解析与评估报告</a:t>
            </a:r>
            <a:r>
              <a:rPr lang="en-US" sz="1500" dirty="0">
                <a:solidFill>
                  <a:srgbClr val="CBD5E1"/>
                </a:solidFill>
                <a:latin typeface="+mn-ea"/>
                <a:ea typeface="+mn-ea"/>
                <a:cs typeface="Lato"/>
                <a:sym typeface="Lato"/>
              </a:rPr>
              <a:t>。</a:t>
            </a:r>
          </a:p>
        </p:txBody>
      </p:sp>
      <p:sp>
        <p:nvSpPr>
          <p:cNvPr id="156" name="Google Shape;156;p16"/>
          <p:cNvSpPr txBox="1"/>
          <p:nvPr/>
        </p:nvSpPr>
        <p:spPr>
          <a:xfrm>
            <a:off x="571499" y="5777863"/>
            <a:ext cx="528637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en-US" sz="1500" b="1" dirty="0" err="1">
                <a:solidFill>
                  <a:srgbClr val="CBD5E1"/>
                </a:solidFill>
                <a:latin typeface="+mn-ea"/>
                <a:ea typeface="+mn-ea"/>
                <a:cs typeface="Lato"/>
                <a:sym typeface="Lato"/>
              </a:rPr>
              <a:t>管理端子系统</a:t>
            </a:r>
            <a:r>
              <a:rPr lang="en-US" sz="1500" dirty="0">
                <a:solidFill>
                  <a:srgbClr val="CBD5E1"/>
                </a:solidFill>
                <a:latin typeface="+mn-ea"/>
                <a:ea typeface="+mn-ea"/>
                <a:cs typeface="Lato"/>
                <a:sym typeface="Lato"/>
              </a:rPr>
              <a:t>： </a:t>
            </a:r>
            <a:r>
              <a:rPr lang="en-US" sz="1500" dirty="0" err="1">
                <a:solidFill>
                  <a:srgbClr val="CBD5E1"/>
                </a:solidFill>
                <a:latin typeface="+mn-ea"/>
                <a:ea typeface="+mn-ea"/>
                <a:cs typeface="Lato"/>
                <a:sym typeface="Lato"/>
              </a:rPr>
              <a:t>聚焦</a:t>
            </a:r>
            <a:r>
              <a:rPr lang="en-US" sz="1500" dirty="0">
                <a:solidFill>
                  <a:srgbClr val="CBD5E1"/>
                </a:solidFill>
                <a:latin typeface="+mn-ea"/>
                <a:ea typeface="+mn-ea"/>
                <a:cs typeface="Lato"/>
                <a:sym typeface="Lato"/>
              </a:rPr>
              <a:t> Prompt </a:t>
            </a:r>
            <a:r>
              <a:rPr lang="en-US" sz="1500" dirty="0" err="1">
                <a:solidFill>
                  <a:srgbClr val="CBD5E1"/>
                </a:solidFill>
                <a:latin typeface="+mn-ea"/>
                <a:ea typeface="+mn-ea"/>
                <a:cs typeface="Lato"/>
                <a:sym typeface="Lato"/>
              </a:rPr>
              <a:t>模板库运维与模型</a:t>
            </a:r>
            <a:r>
              <a:rPr lang="en-US" sz="1500" dirty="0">
                <a:solidFill>
                  <a:srgbClr val="CBD5E1"/>
                </a:solidFill>
                <a:latin typeface="+mn-ea"/>
                <a:ea typeface="+mn-ea"/>
                <a:cs typeface="Lato"/>
                <a:sym typeface="Lato"/>
              </a:rPr>
              <a:t> API </a:t>
            </a:r>
            <a:r>
              <a:rPr lang="en-US" sz="1500" dirty="0" err="1">
                <a:solidFill>
                  <a:srgbClr val="CBD5E1"/>
                </a:solidFill>
                <a:latin typeface="+mn-ea"/>
                <a:ea typeface="+mn-ea"/>
                <a:cs typeface="Lato"/>
                <a:sym typeface="Lato"/>
              </a:rPr>
              <a:t>密钥的动态调度</a:t>
            </a:r>
            <a:r>
              <a:rPr lang="en-US" sz="1500" dirty="0">
                <a:solidFill>
                  <a:srgbClr val="CBD5E1"/>
                </a:solidFill>
                <a:latin typeface="+mn-ea"/>
                <a:ea typeface="+mn-ea"/>
                <a:cs typeface="Lato"/>
                <a:sym typeface="Lato"/>
              </a:rPr>
              <a:t>。</a:t>
            </a:r>
          </a:p>
        </p:txBody>
      </p:sp>
      <p:pic>
        <p:nvPicPr>
          <p:cNvPr id="157" name="Google Shape;157;p16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571500" y="5008959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6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571500" y="5409009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6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571500" y="5876790"/>
            <a:ext cx="17145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17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7"/>
          <p:cNvSpPr txBox="1"/>
          <p:nvPr/>
        </p:nvSpPr>
        <p:spPr>
          <a:xfrm>
            <a:off x="285750" y="1634934"/>
            <a:ext cx="74295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CBD5E1"/>
                </a:solidFill>
                <a:latin typeface="+mn-ea"/>
                <a:ea typeface="+mn-ea"/>
                <a:cs typeface="Lato"/>
                <a:sym typeface="Lato"/>
              </a:rPr>
              <a:t>通过面向对象的</a:t>
            </a:r>
            <a:r>
              <a:rPr lang="en-US" sz="1500" b="1" i="0" u="none" strike="noStrike" cap="none" dirty="0" err="1">
                <a:solidFill>
                  <a:srgbClr val="CBD5E1"/>
                </a:solidFill>
                <a:latin typeface="+mn-ea"/>
                <a:ea typeface="+mn-ea"/>
                <a:cs typeface="Lato"/>
                <a:sym typeface="Lato"/>
              </a:rPr>
              <a:t>活动图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+mn-ea"/>
                <a:ea typeface="+mn-ea"/>
                <a:cs typeface="Lato"/>
                <a:sym typeface="Lato"/>
              </a:rPr>
              <a:t>建模，我们梳理了求职者从准备到获取报告的完整动态行为</a:t>
            </a:r>
            <a:r>
              <a:rPr lang="zh-CN" altLang="en-US" sz="1500" dirty="0">
                <a:solidFill>
                  <a:srgbClr val="CBD5E1"/>
                </a:solidFill>
                <a:latin typeface="+mn-ea"/>
                <a:ea typeface="+mn-ea"/>
                <a:cs typeface="Lato"/>
                <a:sym typeface="Lato"/>
              </a:rPr>
              <a:t>路径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+mn-ea"/>
                <a:ea typeface="+mn-ea"/>
                <a:cs typeface="Lato"/>
                <a:sym typeface="Lato"/>
              </a:rPr>
              <a:t>：</a:t>
            </a:r>
          </a:p>
        </p:txBody>
      </p:sp>
      <p:sp>
        <p:nvSpPr>
          <p:cNvPr id="167" name="Google Shape;167;p17"/>
          <p:cNvSpPr txBox="1"/>
          <p:nvPr/>
        </p:nvSpPr>
        <p:spPr>
          <a:xfrm>
            <a:off x="337793" y="2347975"/>
            <a:ext cx="266830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3B82F6"/>
                </a:solidFill>
                <a:latin typeface="+mj-ea"/>
                <a:ea typeface="+mj-ea"/>
                <a:cs typeface="Poppins Medium"/>
                <a:sym typeface="Poppins Medium"/>
              </a:rPr>
              <a:t>01. </a:t>
            </a:r>
            <a:r>
              <a:rPr lang="en-US" sz="1800" b="0" i="0" u="none" strike="noStrike" cap="none" dirty="0" err="1">
                <a:solidFill>
                  <a:srgbClr val="3B82F6"/>
                </a:solidFill>
                <a:latin typeface="+mj-ea"/>
                <a:ea typeface="+mj-ea"/>
                <a:cs typeface="Poppins Medium"/>
                <a:sym typeface="Poppins Medium"/>
              </a:rPr>
              <a:t>异步解析</a:t>
            </a:r>
            <a:endParaRPr lang="en-US" sz="1800" b="0" i="0" u="none" strike="noStrike" cap="none" dirty="0">
              <a:solidFill>
                <a:srgbClr val="3B82F6"/>
              </a:solidFill>
              <a:latin typeface="+mj-ea"/>
              <a:ea typeface="+mj-ea"/>
              <a:cs typeface="Poppins Medium"/>
              <a:sym typeface="Poppins Medium"/>
            </a:endParaRPr>
          </a:p>
        </p:txBody>
      </p:sp>
      <p:sp>
        <p:nvSpPr>
          <p:cNvPr id="168" name="Google Shape;168;p17"/>
          <p:cNvSpPr txBox="1"/>
          <p:nvPr/>
        </p:nvSpPr>
        <p:spPr>
          <a:xfrm>
            <a:off x="401325" y="2824225"/>
            <a:ext cx="254124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en-US" sz="1500" dirty="0" err="1">
                <a:solidFill>
                  <a:srgbClr val="CBD5E1"/>
                </a:solidFill>
                <a:latin typeface="+mn-ea"/>
                <a:ea typeface="+mn-ea"/>
                <a:cs typeface="Lato"/>
                <a:sym typeface="Lato"/>
              </a:rPr>
              <a:t>用户上传简历并输入目标岗位，系统调用异步服务提取关键技能点与履历特征</a:t>
            </a:r>
            <a:r>
              <a:rPr lang="en-US" sz="1500" dirty="0">
                <a:solidFill>
                  <a:srgbClr val="CBD5E1"/>
                </a:solidFill>
                <a:latin typeface="+mn-ea"/>
                <a:ea typeface="+mn-ea"/>
                <a:cs typeface="Lato"/>
                <a:sym typeface="Lato"/>
              </a:rPr>
              <a:t>。</a:t>
            </a:r>
          </a:p>
        </p:txBody>
      </p:sp>
      <p:sp>
        <p:nvSpPr>
          <p:cNvPr id="169" name="Google Shape;169;p17"/>
          <p:cNvSpPr txBox="1"/>
          <p:nvPr/>
        </p:nvSpPr>
        <p:spPr>
          <a:xfrm>
            <a:off x="4137630" y="2347975"/>
            <a:ext cx="266830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1800" dirty="0">
                <a:solidFill>
                  <a:srgbClr val="3B82F6"/>
                </a:solidFill>
                <a:latin typeface="+mj-ea"/>
                <a:ea typeface="+mj-ea"/>
                <a:cs typeface="Poppins Medium"/>
                <a:sym typeface="Poppins Medium"/>
              </a:rPr>
              <a:t>02. </a:t>
            </a:r>
            <a:r>
              <a:rPr lang="en-US" sz="1800" dirty="0" err="1">
                <a:solidFill>
                  <a:srgbClr val="3B82F6"/>
                </a:solidFill>
                <a:latin typeface="+mj-ea"/>
                <a:ea typeface="+mj-ea"/>
                <a:cs typeface="Poppins Medium"/>
                <a:sym typeface="Poppins Medium"/>
              </a:rPr>
              <a:t>参数配置</a:t>
            </a:r>
            <a:endParaRPr lang="en-US" sz="1800" dirty="0">
              <a:solidFill>
                <a:srgbClr val="3B82F6"/>
              </a:solidFill>
              <a:latin typeface="+mj-ea"/>
              <a:ea typeface="+mj-ea"/>
              <a:cs typeface="Poppins Medium"/>
              <a:sym typeface="Poppins Medium"/>
            </a:endParaRPr>
          </a:p>
        </p:txBody>
      </p:sp>
      <p:sp>
        <p:nvSpPr>
          <p:cNvPr id="170" name="Google Shape;170;p17"/>
          <p:cNvSpPr txBox="1"/>
          <p:nvPr/>
        </p:nvSpPr>
        <p:spPr>
          <a:xfrm>
            <a:off x="4201161" y="2824225"/>
            <a:ext cx="254124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CBD5E1"/>
                </a:solidFill>
                <a:latin typeface="+mn-ea"/>
                <a:ea typeface="+mn-ea"/>
                <a:cs typeface="Lato"/>
                <a:sym typeface="Lato"/>
              </a:rPr>
              <a:t>配置面试偏好，如“</a:t>
            </a:r>
            <a:r>
              <a:rPr lang="en-US" sz="1500" dirty="0" err="1">
                <a:solidFill>
                  <a:srgbClr val="CBD5E1"/>
                </a:solidFill>
                <a:latin typeface="+mn-ea"/>
                <a:ea typeface="+mn-ea"/>
                <a:cs typeface="Lato"/>
                <a:sym typeface="Lato"/>
              </a:rPr>
              <a:t>面试风格</a:t>
            </a:r>
            <a:r>
              <a:rPr lang="en-US" sz="1500" dirty="0">
                <a:solidFill>
                  <a:srgbClr val="CBD5E1"/>
                </a:solidFill>
                <a:latin typeface="+mn-ea"/>
                <a:ea typeface="+mn-ea"/>
                <a:cs typeface="Lato"/>
                <a:sym typeface="Lato"/>
              </a:rPr>
              <a:t>”（</a:t>
            </a:r>
            <a:r>
              <a:rPr lang="en-US" sz="1500" dirty="0" err="1">
                <a:solidFill>
                  <a:srgbClr val="CBD5E1"/>
                </a:solidFill>
                <a:latin typeface="+mn-ea"/>
                <a:ea typeface="+mn-ea"/>
                <a:cs typeface="Lato"/>
                <a:sym typeface="Lato"/>
              </a:rPr>
              <a:t>压力面</a:t>
            </a:r>
            <a:r>
              <a:rPr lang="en-US" sz="1500" dirty="0">
                <a:solidFill>
                  <a:srgbClr val="CBD5E1"/>
                </a:solidFill>
                <a:latin typeface="+mn-ea"/>
                <a:ea typeface="+mn-ea"/>
                <a:cs typeface="Lato"/>
                <a:sym typeface="Lato"/>
              </a:rPr>
              <a:t>/</a:t>
            </a:r>
            <a:r>
              <a:rPr lang="en-US" sz="1500" dirty="0" err="1">
                <a:solidFill>
                  <a:srgbClr val="CBD5E1"/>
                </a:solidFill>
                <a:latin typeface="+mn-ea"/>
                <a:ea typeface="+mn-ea"/>
                <a:cs typeface="Lato"/>
                <a:sym typeface="Lato"/>
              </a:rPr>
              <a:t>温和面</a:t>
            </a:r>
            <a:r>
              <a:rPr lang="en-US" sz="1500" dirty="0">
                <a:solidFill>
                  <a:srgbClr val="CBD5E1"/>
                </a:solidFill>
                <a:latin typeface="+mn-ea"/>
                <a:ea typeface="+mn-ea"/>
                <a:cs typeface="Lato"/>
                <a:sym typeface="Lato"/>
              </a:rPr>
              <a:t>）、“</a:t>
            </a:r>
            <a:r>
              <a:rPr lang="en-US" sz="1500" dirty="0" err="1">
                <a:solidFill>
                  <a:srgbClr val="CBD5E1"/>
                </a:solidFill>
                <a:latin typeface="+mn-ea"/>
                <a:ea typeface="+mn-ea"/>
                <a:cs typeface="Lato"/>
                <a:sym typeface="Lato"/>
              </a:rPr>
              <a:t>语言”及“预计时长</a:t>
            </a:r>
            <a:r>
              <a:rPr lang="en-US" sz="1500" dirty="0">
                <a:solidFill>
                  <a:srgbClr val="CBD5E1"/>
                </a:solidFill>
                <a:latin typeface="+mn-ea"/>
                <a:ea typeface="+mn-ea"/>
                <a:cs typeface="Lato"/>
                <a:sym typeface="Lato"/>
              </a:rPr>
              <a:t>”。</a:t>
            </a:r>
          </a:p>
        </p:txBody>
      </p:sp>
      <p:sp>
        <p:nvSpPr>
          <p:cNvPr id="171" name="Google Shape;171;p17"/>
          <p:cNvSpPr txBox="1"/>
          <p:nvPr/>
        </p:nvSpPr>
        <p:spPr>
          <a:xfrm>
            <a:off x="337793" y="4176651"/>
            <a:ext cx="266830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>
              <a:buFont typeface="Arial"/>
              <a:buNone/>
            </a:pPr>
            <a:r>
              <a:rPr lang="en-US" sz="1800" dirty="0">
                <a:solidFill>
                  <a:srgbClr val="3B82F6"/>
                </a:solidFill>
                <a:latin typeface="+mj-ea"/>
                <a:ea typeface="+mj-ea"/>
                <a:cs typeface="Poppins Medium"/>
                <a:sym typeface="Poppins Medium"/>
              </a:rPr>
              <a:t>03. </a:t>
            </a:r>
            <a:r>
              <a:rPr lang="en-US" sz="1800" dirty="0" err="1">
                <a:solidFill>
                  <a:srgbClr val="3B82F6"/>
                </a:solidFill>
                <a:latin typeface="+mj-ea"/>
                <a:ea typeface="+mj-ea"/>
                <a:cs typeface="Poppins Medium"/>
                <a:sym typeface="Poppins Medium"/>
              </a:rPr>
              <a:t>模拟交互</a:t>
            </a:r>
            <a:endParaRPr lang="en-US" sz="1800" dirty="0">
              <a:solidFill>
                <a:srgbClr val="3B82F6"/>
              </a:solidFill>
              <a:latin typeface="+mj-ea"/>
              <a:ea typeface="+mj-ea"/>
              <a:cs typeface="Poppins Medium"/>
              <a:sym typeface="Poppins Medium"/>
            </a:endParaRPr>
          </a:p>
        </p:txBody>
      </p:sp>
      <p:sp>
        <p:nvSpPr>
          <p:cNvPr id="172" name="Google Shape;172;p17"/>
          <p:cNvSpPr txBox="1"/>
          <p:nvPr/>
        </p:nvSpPr>
        <p:spPr>
          <a:xfrm>
            <a:off x="401324" y="4652901"/>
            <a:ext cx="254124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en-US" sz="1500" dirty="0" err="1">
                <a:solidFill>
                  <a:srgbClr val="CBD5E1"/>
                </a:solidFill>
                <a:latin typeface="+mn-ea"/>
                <a:ea typeface="+mn-ea"/>
                <a:cs typeface="Lato"/>
                <a:sym typeface="Lato"/>
              </a:rPr>
              <a:t>状态机驱动对话：AI</a:t>
            </a:r>
            <a:r>
              <a:rPr lang="en-US" sz="1500" dirty="0">
                <a:solidFill>
                  <a:srgbClr val="CBD5E1"/>
                </a:solidFill>
                <a:latin typeface="+mn-ea"/>
                <a:ea typeface="+mn-ea"/>
                <a:cs typeface="Lato"/>
                <a:sym typeface="Lato"/>
              </a:rPr>
              <a:t> </a:t>
            </a:r>
            <a:r>
              <a:rPr lang="en-US" sz="1500" dirty="0" err="1">
                <a:solidFill>
                  <a:srgbClr val="CBD5E1"/>
                </a:solidFill>
                <a:latin typeface="+mn-ea"/>
                <a:ea typeface="+mn-ea"/>
                <a:cs typeface="Lato"/>
                <a:sym typeface="Lato"/>
              </a:rPr>
              <a:t>结合简历首问</a:t>
            </a:r>
            <a:r>
              <a:rPr lang="en-US" sz="1500" dirty="0">
                <a:solidFill>
                  <a:srgbClr val="CBD5E1"/>
                </a:solidFill>
                <a:latin typeface="+mn-ea"/>
                <a:ea typeface="+mn-ea"/>
                <a:cs typeface="Lato"/>
                <a:sym typeface="Lato"/>
              </a:rPr>
              <a:t> -&gt; </a:t>
            </a:r>
            <a:r>
              <a:rPr lang="en-US" sz="1500" dirty="0" err="1">
                <a:solidFill>
                  <a:srgbClr val="CBD5E1"/>
                </a:solidFill>
                <a:latin typeface="+mn-ea"/>
                <a:ea typeface="+mn-ea"/>
                <a:cs typeface="Lato"/>
                <a:sym typeface="Lato"/>
              </a:rPr>
              <a:t>语音播报</a:t>
            </a:r>
            <a:r>
              <a:rPr lang="en-US" sz="1500" dirty="0">
                <a:solidFill>
                  <a:srgbClr val="CBD5E1"/>
                </a:solidFill>
                <a:latin typeface="+mn-ea"/>
                <a:ea typeface="+mn-ea"/>
                <a:cs typeface="Lato"/>
                <a:sym typeface="Lato"/>
              </a:rPr>
              <a:t> -&gt; </a:t>
            </a:r>
            <a:r>
              <a:rPr lang="en-US" sz="1500" dirty="0" err="1">
                <a:solidFill>
                  <a:srgbClr val="CBD5E1"/>
                </a:solidFill>
                <a:latin typeface="+mn-ea"/>
                <a:ea typeface="+mn-ea"/>
                <a:cs typeface="Lato"/>
                <a:sym typeface="Lato"/>
              </a:rPr>
              <a:t>用户作答</a:t>
            </a:r>
            <a:r>
              <a:rPr lang="en-US" sz="1500" dirty="0">
                <a:solidFill>
                  <a:srgbClr val="CBD5E1"/>
                </a:solidFill>
                <a:latin typeface="+mn-ea"/>
                <a:ea typeface="+mn-ea"/>
                <a:cs typeface="Lato"/>
                <a:sym typeface="Lato"/>
              </a:rPr>
              <a:t> -&gt; AI </a:t>
            </a:r>
            <a:r>
              <a:rPr lang="en-US" sz="1500" dirty="0" err="1">
                <a:solidFill>
                  <a:srgbClr val="CBD5E1"/>
                </a:solidFill>
                <a:latin typeface="+mn-ea"/>
                <a:ea typeface="+mn-ea"/>
                <a:cs typeface="Lato"/>
                <a:sym typeface="Lato"/>
              </a:rPr>
              <a:t>深度追问循环</a:t>
            </a:r>
            <a:r>
              <a:rPr lang="en-US" sz="1500" dirty="0">
                <a:solidFill>
                  <a:srgbClr val="CBD5E1"/>
                </a:solidFill>
                <a:latin typeface="+mn-ea"/>
                <a:ea typeface="+mn-ea"/>
                <a:cs typeface="Lato"/>
                <a:sym typeface="Lato"/>
              </a:rPr>
              <a:t>。</a:t>
            </a:r>
          </a:p>
        </p:txBody>
      </p:sp>
      <p:sp>
        <p:nvSpPr>
          <p:cNvPr id="173" name="Google Shape;173;p17"/>
          <p:cNvSpPr txBox="1"/>
          <p:nvPr/>
        </p:nvSpPr>
        <p:spPr>
          <a:xfrm>
            <a:off x="4137630" y="4148200"/>
            <a:ext cx="266830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3B82F6"/>
                </a:solidFill>
                <a:latin typeface="+mj-ea"/>
                <a:ea typeface="+mj-ea"/>
                <a:cs typeface="Poppins Medium"/>
                <a:sym typeface="Poppins Medium"/>
              </a:rPr>
              <a:t>04. </a:t>
            </a:r>
            <a:r>
              <a:rPr lang="en-US" sz="1800" dirty="0" err="1">
                <a:solidFill>
                  <a:srgbClr val="3B82F6"/>
                </a:solidFill>
                <a:latin typeface="+mj-ea"/>
                <a:ea typeface="+mj-ea"/>
                <a:cs typeface="Poppins Medium"/>
                <a:sym typeface="Poppins Medium"/>
              </a:rPr>
              <a:t>多维评估</a:t>
            </a:r>
            <a:endParaRPr lang="en-US" sz="1800" dirty="0">
              <a:solidFill>
                <a:srgbClr val="3B82F6"/>
              </a:solidFill>
              <a:latin typeface="+mj-ea"/>
              <a:ea typeface="+mj-ea"/>
              <a:cs typeface="Poppins Medium"/>
              <a:sym typeface="Poppins Medium"/>
            </a:endParaRPr>
          </a:p>
        </p:txBody>
      </p:sp>
      <p:sp>
        <p:nvSpPr>
          <p:cNvPr id="174" name="Google Shape;174;p17"/>
          <p:cNvSpPr txBox="1"/>
          <p:nvPr/>
        </p:nvSpPr>
        <p:spPr>
          <a:xfrm>
            <a:off x="4201161" y="4624450"/>
            <a:ext cx="254124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en-US" sz="1500" dirty="0" err="1">
                <a:solidFill>
                  <a:srgbClr val="CBD5E1"/>
                </a:solidFill>
                <a:latin typeface="+mn-ea"/>
                <a:ea typeface="+mn-ea"/>
                <a:cs typeface="Lato"/>
                <a:sym typeface="Lato"/>
              </a:rPr>
              <a:t>交互结束，打包全局日志交由</a:t>
            </a:r>
            <a:r>
              <a:rPr lang="en-US" sz="1500" dirty="0">
                <a:solidFill>
                  <a:srgbClr val="CBD5E1"/>
                </a:solidFill>
                <a:latin typeface="+mn-ea"/>
                <a:ea typeface="+mn-ea"/>
                <a:cs typeface="Lato"/>
                <a:sym typeface="Lato"/>
              </a:rPr>
              <a:t> LLM </a:t>
            </a:r>
            <a:r>
              <a:rPr lang="en-US" sz="1500" dirty="0" err="1">
                <a:solidFill>
                  <a:srgbClr val="CBD5E1"/>
                </a:solidFill>
                <a:latin typeface="+mn-ea"/>
                <a:ea typeface="+mn-ea"/>
                <a:cs typeface="Lato"/>
                <a:sym typeface="Lato"/>
              </a:rPr>
              <a:t>分析，生成技术、逻辑维度雷达图及改进建议</a:t>
            </a:r>
            <a:r>
              <a:rPr lang="en-US" sz="1500" dirty="0">
                <a:solidFill>
                  <a:srgbClr val="CBD5E1"/>
                </a:solidFill>
                <a:latin typeface="+mn-ea"/>
                <a:ea typeface="+mn-ea"/>
                <a:cs typeface="Lato"/>
                <a:sym typeface="Lato"/>
              </a:rPr>
              <a:t>。</a:t>
            </a:r>
          </a:p>
        </p:txBody>
      </p:sp>
      <p:sp>
        <p:nvSpPr>
          <p:cNvPr id="179" name="Google Shape;179;p17"/>
          <p:cNvSpPr txBox="1"/>
          <p:nvPr/>
        </p:nvSpPr>
        <p:spPr>
          <a:xfrm>
            <a:off x="571500" y="476250"/>
            <a:ext cx="1160145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 dirty="0">
                <a:solidFill>
                  <a:srgbClr val="F8FAF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04 </a:t>
            </a:r>
            <a:r>
              <a:rPr lang="en-US" sz="3000" b="0" i="0" u="none" strike="noStrike" cap="none" dirty="0" err="1">
                <a:solidFill>
                  <a:srgbClr val="3B82F6"/>
                </a:solidFill>
                <a:latin typeface="+mj-ea"/>
                <a:ea typeface="+mj-ea"/>
                <a:cs typeface="Poppins Medium"/>
                <a:sym typeface="Poppins Medium"/>
              </a:rPr>
              <a:t>核心业务流程：沉浸式面试闭环</a:t>
            </a:r>
            <a:endParaRPr lang="en-US" sz="3000" b="0" i="0" u="none" strike="noStrike" cap="none" dirty="0">
              <a:solidFill>
                <a:srgbClr val="3B82F6"/>
              </a:solidFill>
              <a:latin typeface="+mj-ea"/>
              <a:ea typeface="+mj-ea"/>
              <a:cs typeface="Poppins Medium"/>
              <a:sym typeface="Poppins Medium"/>
            </a:endParaRPr>
          </a:p>
        </p:txBody>
      </p:sp>
      <p:sp>
        <p:nvSpPr>
          <p:cNvPr id="180" name="Google Shape;180;p17"/>
          <p:cNvSpPr/>
          <p:nvPr/>
        </p:nvSpPr>
        <p:spPr>
          <a:xfrm>
            <a:off x="285750" y="1136909"/>
            <a:ext cx="7429500" cy="51341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5845B00-7D68-3AFE-E867-23E729ACD2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0" y="389466"/>
            <a:ext cx="3681322" cy="599228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>
          <a:extLst>
            <a:ext uri="{FF2B5EF4-FFF2-40B4-BE49-F238E27FC236}">
              <a16:creationId xmlns:a16="http://schemas.microsoft.com/office/drawing/2014/main" id="{766FF6EC-576F-5423-3886-94F3291162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17" descr="image.png">
            <a:extLst>
              <a:ext uri="{FF2B5EF4-FFF2-40B4-BE49-F238E27FC236}">
                <a16:creationId xmlns:a16="http://schemas.microsoft.com/office/drawing/2014/main" id="{169026AB-E570-7305-D09E-59EFDEFBE0BD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-1905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7">
            <a:extLst>
              <a:ext uri="{FF2B5EF4-FFF2-40B4-BE49-F238E27FC236}">
                <a16:creationId xmlns:a16="http://schemas.microsoft.com/office/drawing/2014/main" id="{9DF53891-D28A-0698-7FD3-7D710F1F6F04}"/>
              </a:ext>
            </a:extLst>
          </p:cNvPr>
          <p:cNvSpPr txBox="1"/>
          <p:nvPr/>
        </p:nvSpPr>
        <p:spPr>
          <a:xfrm>
            <a:off x="571500" y="476250"/>
            <a:ext cx="1160145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 dirty="0">
                <a:solidFill>
                  <a:srgbClr val="F8FAF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05 </a:t>
            </a:r>
            <a:r>
              <a:rPr lang="zh-CN" altLang="en-US" sz="3000" b="0" i="0" u="none" strike="noStrike" cap="none" dirty="0">
                <a:solidFill>
                  <a:srgbClr val="3B82F6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管理端核心流程：后台运维闭环</a:t>
            </a:r>
            <a:endParaRPr lang="en-US" sz="3000" b="0" i="0" u="none" strike="noStrike" cap="none" dirty="0">
              <a:solidFill>
                <a:srgbClr val="3B82F6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80" name="Google Shape;180;p17">
            <a:extLst>
              <a:ext uri="{FF2B5EF4-FFF2-40B4-BE49-F238E27FC236}">
                <a16:creationId xmlns:a16="http://schemas.microsoft.com/office/drawing/2014/main" id="{2828942B-8B9B-F92A-4664-6281AA5D8BCA}"/>
              </a:ext>
            </a:extLst>
          </p:cNvPr>
          <p:cNvSpPr/>
          <p:nvPr/>
        </p:nvSpPr>
        <p:spPr>
          <a:xfrm>
            <a:off x="285750" y="1136909"/>
            <a:ext cx="7429500" cy="51341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E0E3E55-8E20-8271-D01D-1138C2E1E3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1249" y="1544469"/>
            <a:ext cx="5877034" cy="4706976"/>
          </a:xfrm>
          <a:prstGeom prst="rect">
            <a:avLst/>
          </a:prstGeom>
        </p:spPr>
      </p:pic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F0716E1E-9D1C-A0EB-2550-9FD6E24777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737113"/>
              </p:ext>
            </p:extLst>
          </p:nvPr>
        </p:nvGraphicFramePr>
        <p:xfrm>
          <a:off x="106861" y="1798083"/>
          <a:ext cx="5877033" cy="28207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99361">
                  <a:extLst>
                    <a:ext uri="{9D8B030D-6E8A-4147-A177-3AD203B41FA5}">
                      <a16:colId xmlns:a16="http://schemas.microsoft.com/office/drawing/2014/main" val="3700439837"/>
                    </a:ext>
                  </a:extLst>
                </a:gridCol>
                <a:gridCol w="2325511">
                  <a:extLst>
                    <a:ext uri="{9D8B030D-6E8A-4147-A177-3AD203B41FA5}">
                      <a16:colId xmlns:a16="http://schemas.microsoft.com/office/drawing/2014/main" val="1064635837"/>
                    </a:ext>
                  </a:extLst>
                </a:gridCol>
                <a:gridCol w="1852161">
                  <a:extLst>
                    <a:ext uri="{9D8B030D-6E8A-4147-A177-3AD203B41FA5}">
                      <a16:colId xmlns:a16="http://schemas.microsoft.com/office/drawing/2014/main" val="4115290767"/>
                    </a:ext>
                  </a:extLst>
                </a:gridCol>
              </a:tblGrid>
              <a:tr h="561295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2000" b="1" dirty="0">
                          <a:solidFill>
                            <a:schemeClr val="bg1"/>
                          </a:solidFill>
                          <a:effectLst/>
                        </a:rPr>
                        <a:t>功能模块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2000" b="1" dirty="0">
                          <a:solidFill>
                            <a:schemeClr val="bg1"/>
                          </a:solidFill>
                          <a:effectLst/>
                        </a:rPr>
                        <a:t>核心操作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2000" b="1" dirty="0">
                          <a:solidFill>
                            <a:schemeClr val="bg1"/>
                          </a:solidFill>
                          <a:effectLst/>
                        </a:rPr>
                        <a:t>运维价值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3209819482"/>
                  </a:ext>
                </a:extLst>
              </a:tr>
              <a:tr h="451881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Prompt</a:t>
                      </a:r>
                      <a:r>
                        <a:rPr lang="zh-CN" altLang="en-US" sz="1400" b="1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模板库</a:t>
                      </a:r>
                      <a:endParaRPr lang="zh-CN" altLang="en-US" sz="1400" b="0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400" b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增删改查面试人设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400" b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持续优化</a:t>
                      </a:r>
                      <a:r>
                        <a:rPr lang="en-US" altLang="zh-CN" sz="1400" b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AI</a:t>
                      </a:r>
                      <a:r>
                        <a:rPr lang="zh-CN" altLang="en-US" sz="1400" b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提问质量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446178758"/>
                  </a:ext>
                </a:extLst>
              </a:tr>
              <a:tr h="451881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API</a:t>
                      </a:r>
                      <a:r>
                        <a:rPr lang="zh-CN" altLang="en-US" sz="1400" b="1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密钥管理</a:t>
                      </a:r>
                      <a:endParaRPr lang="zh-CN" altLang="en-US" sz="1400" b="0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400" b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配置主备通道、监控额度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400" b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保障服务稳定性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3467052064"/>
                  </a:ext>
                </a:extLst>
              </a:tr>
              <a:tr h="451881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400" b="1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会话日志监督</a:t>
                      </a:r>
                      <a:endParaRPr lang="zh-CN" altLang="en-US" sz="1400" b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400" b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抽查报告、追踪异常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400" b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确保</a:t>
                      </a:r>
                      <a:r>
                        <a:rPr lang="en-US" altLang="zh-CN" sz="1400" b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AI</a:t>
                      </a:r>
                      <a:r>
                        <a:rPr lang="zh-CN" altLang="en-US" sz="1400" b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评分客观性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3554515343"/>
                  </a:ext>
                </a:extLst>
              </a:tr>
              <a:tr h="451881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400" b="1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用户额度管理</a:t>
                      </a:r>
                      <a:endParaRPr lang="zh-CN" altLang="en-US" sz="1400" b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400" b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设置使用次数、封禁账号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400" b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控制</a:t>
                      </a:r>
                      <a:r>
                        <a:rPr lang="en-US" altLang="zh-CN" sz="1400" b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API</a:t>
                      </a:r>
                      <a:r>
                        <a:rPr lang="zh-CN" altLang="en-US" sz="1400" b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调用成本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992446899"/>
                  </a:ext>
                </a:extLst>
              </a:tr>
              <a:tr h="451881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400" b="1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权限分配</a:t>
                      </a:r>
                      <a:endParaRPr lang="zh-CN" altLang="en-US" sz="1400" b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400" b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角色权限控制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400" b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保障后台数据安全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2299577958"/>
                  </a:ext>
                </a:extLst>
              </a:tr>
            </a:tbl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3663115C-9398-50D8-41F6-7A9E4985AAF2}"/>
              </a:ext>
            </a:extLst>
          </p:cNvPr>
          <p:cNvSpPr txBox="1"/>
          <p:nvPr/>
        </p:nvSpPr>
        <p:spPr>
          <a:xfrm>
            <a:off x="213717" y="5228616"/>
            <a:ext cx="55992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+mn-ea"/>
                <a:ea typeface="+mn-ea"/>
              </a:rPr>
              <a:t>管理员可循环执行上述运维操作，完成配置与监督后安全退出，确保系统</a:t>
            </a:r>
            <a:r>
              <a:rPr lang="en-US" altLang="zh-CN" dirty="0">
                <a:solidFill>
                  <a:schemeClr val="bg1"/>
                </a:solidFill>
                <a:latin typeface="+mn-ea"/>
                <a:ea typeface="+mn-ea"/>
              </a:rPr>
              <a:t>AI</a:t>
            </a:r>
            <a:r>
              <a:rPr lang="zh-CN" altLang="en-US" dirty="0">
                <a:solidFill>
                  <a:schemeClr val="bg1"/>
                </a:solidFill>
                <a:latin typeface="+mn-ea"/>
                <a:ea typeface="+mn-ea"/>
              </a:rPr>
              <a:t>能力持续优化、服务稳定运行。</a:t>
            </a:r>
          </a:p>
        </p:txBody>
      </p:sp>
    </p:spTree>
    <p:extLst>
      <p:ext uri="{BB962C8B-B14F-4D97-AF65-F5344CB8AC3E}">
        <p14:creationId xmlns:p14="http://schemas.microsoft.com/office/powerpoint/2010/main" val="3409000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18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8"/>
          <p:cNvSpPr txBox="1"/>
          <p:nvPr/>
        </p:nvSpPr>
        <p:spPr>
          <a:xfrm>
            <a:off x="-1819275" y="1429791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系统构建了三大核心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Actor（参与者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），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分别界定了系统内外的交互边界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。</a:t>
            </a:r>
          </a:p>
        </p:txBody>
      </p:sp>
      <p:sp>
        <p:nvSpPr>
          <p:cNvPr id="191" name="Google Shape;191;p18"/>
          <p:cNvSpPr txBox="1"/>
          <p:nvPr/>
        </p:nvSpPr>
        <p:spPr>
          <a:xfrm>
            <a:off x="571500" y="2020341"/>
            <a:ext cx="2723941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F8FAF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求职者</a:t>
            </a:r>
            <a:r>
              <a:rPr lang="en-US" sz="1800" b="0" i="0" u="none" strike="noStrike" cap="none" dirty="0">
                <a:solidFill>
                  <a:srgbClr val="F8FAF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(</a:t>
            </a:r>
            <a:r>
              <a:rPr lang="en-US" sz="1800" b="0" i="0" u="none" strike="noStrike" cap="none" dirty="0" err="1">
                <a:solidFill>
                  <a:srgbClr val="F8FAF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C端</a:t>
            </a:r>
            <a:r>
              <a:rPr lang="en-US" sz="1800" b="0" i="0" u="none" strike="noStrike" cap="none" dirty="0">
                <a:solidFill>
                  <a:srgbClr val="F8FAF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)</a:t>
            </a:r>
          </a:p>
        </p:txBody>
      </p:sp>
      <p:sp>
        <p:nvSpPr>
          <p:cNvPr id="192" name="Google Shape;192;p18"/>
          <p:cNvSpPr txBox="1"/>
          <p:nvPr/>
        </p:nvSpPr>
        <p:spPr>
          <a:xfrm>
            <a:off x="571499" y="2407145"/>
            <a:ext cx="5331589" cy="498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系统的主要服务对象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。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1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核心用例</a:t>
            </a:r>
            <a:r>
              <a:rPr lang="en-US" sz="1350" b="1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：</a:t>
            </a:r>
            <a:r>
              <a:rPr lang="zh-CN" altLang="en-US" sz="1350" b="1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动态面试配置、智能简历解析、实施对话引擎、多维度复盘</a:t>
            </a:r>
            <a:endParaRPr lang="en-US" sz="1350" b="0" i="0" u="none" strike="noStrike" cap="none" dirty="0">
              <a:solidFill>
                <a:srgbClr val="CBD5E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4" name="Google Shape;194;p18"/>
          <p:cNvSpPr txBox="1"/>
          <p:nvPr/>
        </p:nvSpPr>
        <p:spPr>
          <a:xfrm>
            <a:off x="571499" y="3314847"/>
            <a:ext cx="3099657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F8FAF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管理用户</a:t>
            </a:r>
            <a:r>
              <a:rPr lang="en-US" sz="1800" b="0" i="0" u="none" strike="noStrike" cap="none" dirty="0">
                <a:solidFill>
                  <a:srgbClr val="F8FAF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(</a:t>
            </a:r>
            <a:r>
              <a:rPr lang="en-US" sz="1800" b="0" i="0" u="none" strike="noStrike" cap="none" dirty="0" err="1">
                <a:solidFill>
                  <a:srgbClr val="F8FAF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B端</a:t>
            </a:r>
            <a:r>
              <a:rPr lang="en-US" sz="1800" b="0" i="0" u="none" strike="noStrike" cap="none" dirty="0">
                <a:solidFill>
                  <a:srgbClr val="F8FAF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)</a:t>
            </a:r>
          </a:p>
        </p:txBody>
      </p:sp>
      <p:sp>
        <p:nvSpPr>
          <p:cNvPr id="195" name="Google Shape;195;p18"/>
          <p:cNvSpPr txBox="1"/>
          <p:nvPr/>
        </p:nvSpPr>
        <p:spPr>
          <a:xfrm>
            <a:off x="571499" y="3672835"/>
            <a:ext cx="5331589" cy="747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维护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AI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资产与系统运营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。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1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核心用例：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配置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Prompt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模板库（人设指令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）、</a:t>
            </a:r>
            <a:r>
              <a:rPr lang="zh-CN" altLang="en-US" sz="135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模型</a:t>
            </a:r>
            <a:r>
              <a:rPr lang="en-US" altLang="zh-CN" sz="1350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API</a:t>
            </a:r>
            <a:r>
              <a:rPr lang="zh-CN" altLang="en-US" sz="1350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密钥管理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、</a:t>
            </a:r>
            <a:r>
              <a:rPr lang="zh-CN" altLang="en-US" sz="135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会话日志与评估监督、后台管理员权限分配、用户额度管理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。</a:t>
            </a:r>
          </a:p>
        </p:txBody>
      </p:sp>
      <p:sp>
        <p:nvSpPr>
          <p:cNvPr id="197" name="Google Shape;197;p18"/>
          <p:cNvSpPr txBox="1"/>
          <p:nvPr/>
        </p:nvSpPr>
        <p:spPr>
          <a:xfrm>
            <a:off x="571499" y="4806437"/>
            <a:ext cx="3945017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F8FAF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外部</a:t>
            </a:r>
            <a:r>
              <a:rPr lang="en-US" sz="1800" b="0" i="0" u="none" strike="noStrike" cap="none" dirty="0">
                <a:solidFill>
                  <a:srgbClr val="F8FAF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AI </a:t>
            </a:r>
            <a:r>
              <a:rPr lang="en-US" sz="1800" b="0" i="0" u="none" strike="noStrike" cap="none" dirty="0" err="1">
                <a:solidFill>
                  <a:srgbClr val="F8FAF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服务</a:t>
            </a:r>
            <a:r>
              <a:rPr lang="en-US" sz="1800" b="0" i="0" u="none" strike="noStrike" cap="none" dirty="0">
                <a:solidFill>
                  <a:srgbClr val="F8FAF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(</a:t>
            </a:r>
            <a:r>
              <a:rPr lang="en-US" sz="1800" b="0" i="0" u="none" strike="noStrike" cap="none" dirty="0" err="1">
                <a:solidFill>
                  <a:srgbClr val="F8FAF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外部</a:t>
            </a:r>
            <a:r>
              <a:rPr lang="en-US" sz="1800" b="0" i="0" u="none" strike="noStrike" cap="none" dirty="0">
                <a:solidFill>
                  <a:srgbClr val="F8FAF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)</a:t>
            </a:r>
          </a:p>
        </p:txBody>
      </p:sp>
      <p:sp>
        <p:nvSpPr>
          <p:cNvPr id="198" name="Google Shape;198;p18"/>
          <p:cNvSpPr txBox="1"/>
          <p:nvPr/>
        </p:nvSpPr>
        <p:spPr>
          <a:xfrm>
            <a:off x="571499" y="5170399"/>
            <a:ext cx="5331589" cy="747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提供核心算法能力的外部接口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。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1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核心用例：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大语言模型（提供逻辑追问与文本生成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）、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语音识别引擎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(STT) 与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语音合成引擎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(TTS)。</a:t>
            </a:r>
          </a:p>
        </p:txBody>
      </p:sp>
      <p:sp>
        <p:nvSpPr>
          <p:cNvPr id="202" name="Google Shape;202;p18"/>
          <p:cNvSpPr txBox="1"/>
          <p:nvPr/>
        </p:nvSpPr>
        <p:spPr>
          <a:xfrm>
            <a:off x="571500" y="386804"/>
            <a:ext cx="1160145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 dirty="0">
                <a:solidFill>
                  <a:srgbClr val="F8FAF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06 </a:t>
            </a:r>
            <a:r>
              <a:rPr lang="en-US" sz="3000" b="0" i="0" u="none" strike="noStrike" cap="none" dirty="0" err="1">
                <a:solidFill>
                  <a:srgbClr val="3B82F6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功能需求建模：全局角色与用例</a:t>
            </a:r>
            <a:endParaRPr lang="en-US" sz="3000" b="0" i="0" u="none" strike="noStrike" cap="none" dirty="0">
              <a:solidFill>
                <a:srgbClr val="3B82F6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03" name="Google Shape;203;p18"/>
          <p:cNvSpPr/>
          <p:nvPr/>
        </p:nvSpPr>
        <p:spPr>
          <a:xfrm>
            <a:off x="571500" y="1101179"/>
            <a:ext cx="11049000" cy="190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4F4B56E-791E-5337-EE45-A166334DDC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8534" y="1232570"/>
            <a:ext cx="4385410" cy="551308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19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334125" y="1490662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19"/>
          <p:cNvSpPr txBox="1"/>
          <p:nvPr/>
        </p:nvSpPr>
        <p:spPr>
          <a:xfrm>
            <a:off x="571500" y="1185859"/>
            <a:ext cx="5550693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86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 err="1">
                <a:solidFill>
                  <a:srgbClr val="06B6D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用例</a:t>
            </a:r>
            <a:r>
              <a:rPr lang="en-US" sz="2100" b="0" i="0" u="none" strike="noStrike" cap="none" dirty="0">
                <a:solidFill>
                  <a:srgbClr val="06B6D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1：</a:t>
            </a:r>
            <a:r>
              <a:rPr lang="zh-CN" altLang="en-US" sz="2100" b="0" i="0" u="none" strike="noStrike" cap="none" dirty="0">
                <a:solidFill>
                  <a:srgbClr val="06B6D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实时对话引擎</a:t>
            </a:r>
            <a:endParaRPr lang="en-US" sz="2100" b="0" i="0" u="none" strike="noStrike" cap="none" dirty="0">
              <a:solidFill>
                <a:srgbClr val="06B6D4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11" name="Google Shape;211;p19"/>
          <p:cNvSpPr txBox="1"/>
          <p:nvPr/>
        </p:nvSpPr>
        <p:spPr>
          <a:xfrm>
            <a:off x="571500" y="3600260"/>
            <a:ext cx="5550693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 err="1">
                <a:solidFill>
                  <a:srgbClr val="06B6D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用例</a:t>
            </a:r>
            <a:r>
              <a:rPr lang="en-US" sz="2100" b="0" i="0" u="none" strike="noStrike" cap="none" dirty="0">
                <a:solidFill>
                  <a:srgbClr val="06B6D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2：多维评估与复盘</a:t>
            </a:r>
          </a:p>
        </p:txBody>
      </p:sp>
      <p:pic>
        <p:nvPicPr>
          <p:cNvPr id="212" name="Google Shape;212;p19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571500" y="1220431"/>
            <a:ext cx="33337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19"/>
          <p:cNvSpPr txBox="1"/>
          <p:nvPr/>
        </p:nvSpPr>
        <p:spPr>
          <a:xfrm>
            <a:off x="695325" y="1615004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</a:p>
        </p:txBody>
      </p:sp>
      <p:sp>
        <p:nvSpPr>
          <p:cNvPr id="214" name="Google Shape;214;p19"/>
          <p:cNvSpPr txBox="1"/>
          <p:nvPr/>
        </p:nvSpPr>
        <p:spPr>
          <a:xfrm>
            <a:off x="809625" y="1615004"/>
            <a:ext cx="504825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前置条件</a:t>
            </a:r>
            <a:r>
              <a:rPr lang="en-US" sz="1500" b="1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：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已完成简历解析</a:t>
            </a:r>
            <a:r>
              <a:rPr lang="zh-CN" alt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和面试参数配置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，成功组装基于岗位的初始 Prompt。</a:t>
            </a:r>
          </a:p>
        </p:txBody>
      </p:sp>
      <p:sp>
        <p:nvSpPr>
          <p:cNvPr id="215" name="Google Shape;215;p19"/>
          <p:cNvSpPr txBox="1"/>
          <p:nvPr/>
        </p:nvSpPr>
        <p:spPr>
          <a:xfrm>
            <a:off x="695325" y="2343856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</a:p>
        </p:txBody>
      </p:sp>
      <p:sp>
        <p:nvSpPr>
          <p:cNvPr id="216" name="Google Shape;216;p19"/>
          <p:cNvSpPr txBox="1"/>
          <p:nvPr/>
        </p:nvSpPr>
        <p:spPr>
          <a:xfrm>
            <a:off x="809625" y="2343856"/>
            <a:ext cx="504825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基本路径</a:t>
            </a:r>
            <a:r>
              <a:rPr lang="en-US" sz="1500" b="1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：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AI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语音开场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-&gt; </a:t>
            </a:r>
            <a:r>
              <a:rPr lang="zh-CN" alt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求职者通过语音或文本回答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-&gt;</a:t>
            </a:r>
            <a:r>
              <a:rPr lang="zh-CN" alt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若为语音，系统通过</a:t>
            </a:r>
            <a:r>
              <a:rPr lang="en-US" altLang="zh-CN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STT</a:t>
            </a:r>
            <a:r>
              <a:rPr lang="zh-CN" alt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转为文本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-&gt; LLM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结合上下文生成追问文本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-&gt;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触发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TTS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语音播放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-</a:t>
            </a:r>
            <a:r>
              <a:rPr lang="en-US" sz="1500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&gt;</a:t>
            </a:r>
            <a:r>
              <a:rPr lang="zh-CN" altLang="en-US" sz="1500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对话结束，保存会话日志</a:t>
            </a:r>
            <a:endParaRPr lang="en-US" sz="1500" b="0" i="0" u="none" strike="noStrike" cap="none" dirty="0">
              <a:solidFill>
                <a:srgbClr val="CBD5E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7" name="Google Shape;217;p19"/>
          <p:cNvSpPr txBox="1"/>
          <p:nvPr/>
        </p:nvSpPr>
        <p:spPr>
          <a:xfrm>
            <a:off x="695325" y="4529137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</a:p>
        </p:txBody>
      </p:sp>
      <p:sp>
        <p:nvSpPr>
          <p:cNvPr id="218" name="Google Shape;218;p19"/>
          <p:cNvSpPr txBox="1"/>
          <p:nvPr/>
        </p:nvSpPr>
        <p:spPr>
          <a:xfrm>
            <a:off x="809625" y="4000310"/>
            <a:ext cx="50482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500" b="1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前置条件</a:t>
            </a:r>
            <a:r>
              <a:rPr lang="en-US" sz="1500" b="1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：</a:t>
            </a:r>
            <a:r>
              <a:rPr lang="zh-CN" alt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面试已结束，系统记录了完整的会话日志</a:t>
            </a:r>
            <a:endParaRPr lang="en-US" sz="1500" b="0" i="0" u="none" strike="noStrike" cap="none" dirty="0">
              <a:solidFill>
                <a:srgbClr val="CBD5E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9" name="Google Shape;219;p19"/>
          <p:cNvSpPr txBox="1"/>
          <p:nvPr/>
        </p:nvSpPr>
        <p:spPr>
          <a:xfrm>
            <a:off x="695325" y="4063254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</a:p>
        </p:txBody>
      </p:sp>
      <p:sp>
        <p:nvSpPr>
          <p:cNvPr id="220" name="Google Shape;220;p19"/>
          <p:cNvSpPr txBox="1"/>
          <p:nvPr/>
        </p:nvSpPr>
        <p:spPr>
          <a:xfrm>
            <a:off x="809625" y="4447985"/>
            <a:ext cx="504825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500" b="1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基本路径</a:t>
            </a:r>
            <a:r>
              <a:rPr lang="en-US" sz="1500" b="1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：</a:t>
            </a:r>
            <a:r>
              <a:rPr lang="zh-CN" alt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系统将全局对话日志打包</a:t>
            </a:r>
            <a:r>
              <a:rPr lang="en-US" altLang="zh-CN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-&gt;</a:t>
            </a:r>
            <a:r>
              <a:rPr lang="zh-CN" altLang="en-US" sz="1500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配合评估</a:t>
            </a:r>
            <a:r>
              <a:rPr lang="en-US" altLang="zh-CN" sz="1500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Prompt</a:t>
            </a:r>
            <a:r>
              <a:rPr lang="zh-CN" altLang="en-US" sz="1500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发送给大模型</a:t>
            </a:r>
            <a:r>
              <a:rPr lang="en-US" altLang="zh-CN" sz="1500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-&gt;</a:t>
            </a:r>
            <a:r>
              <a:rPr lang="zh-CN" altLang="en-US" sz="1500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系统生成雷达图展示能力评分，生成“优秀回答范本”供参考</a:t>
            </a:r>
            <a:r>
              <a:rPr lang="en-US" altLang="zh-CN" sz="1500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-&gt;</a:t>
            </a:r>
            <a:r>
              <a:rPr lang="zh-CN" altLang="en-US" sz="1500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用户可选择导出</a:t>
            </a:r>
            <a:r>
              <a:rPr lang="en-US" altLang="zh-CN" sz="1500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PDF</a:t>
            </a:r>
            <a:r>
              <a:rPr lang="zh-CN" altLang="en-US" sz="1500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或开始新一轮面试</a:t>
            </a:r>
            <a:endParaRPr lang="en-US" sz="1500" b="0" i="0" u="none" strike="noStrike" cap="none" dirty="0">
              <a:solidFill>
                <a:srgbClr val="CBD5E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1" name="Google Shape;221;p19"/>
          <p:cNvSpPr txBox="1"/>
          <p:nvPr/>
        </p:nvSpPr>
        <p:spPr>
          <a:xfrm>
            <a:off x="681037" y="5555981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</a:p>
        </p:txBody>
      </p:sp>
      <p:sp>
        <p:nvSpPr>
          <p:cNvPr id="222" name="Google Shape;222;p19"/>
          <p:cNvSpPr txBox="1"/>
          <p:nvPr/>
        </p:nvSpPr>
        <p:spPr>
          <a:xfrm>
            <a:off x="809625" y="5488502"/>
            <a:ext cx="504825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输出展现</a:t>
            </a:r>
            <a:r>
              <a:rPr lang="en-US" sz="1500" b="1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：</a:t>
            </a:r>
            <a:r>
              <a:rPr lang="zh-CN" alt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生成并展示结构化的评估报告，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包含八边形雷达图（技术深度、表达逻辑、抗压能力等）及针对性修改建议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。</a:t>
            </a:r>
          </a:p>
        </p:txBody>
      </p:sp>
      <p:pic>
        <p:nvPicPr>
          <p:cNvPr id="223" name="Google Shape;223;p19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6343650" y="1500187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19"/>
          <p:cNvSpPr txBox="1"/>
          <p:nvPr/>
        </p:nvSpPr>
        <p:spPr>
          <a:xfrm>
            <a:off x="571500" y="376237"/>
            <a:ext cx="1160145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 dirty="0">
                <a:solidFill>
                  <a:srgbClr val="F8FAF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07 </a:t>
            </a:r>
            <a:r>
              <a:rPr lang="en-US" sz="3000" b="0" i="0" u="none" strike="noStrike" cap="none" dirty="0" err="1">
                <a:solidFill>
                  <a:srgbClr val="3B82F6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核心用例描述：客户端子系统</a:t>
            </a:r>
            <a:endParaRPr lang="en-US" sz="3000" b="0" i="0" u="none" strike="noStrike" cap="none" dirty="0">
              <a:solidFill>
                <a:srgbClr val="3B82F6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25" name="Google Shape;225;p19"/>
          <p:cNvSpPr/>
          <p:nvPr/>
        </p:nvSpPr>
        <p:spPr>
          <a:xfrm>
            <a:off x="571500" y="1090612"/>
            <a:ext cx="11049000" cy="190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20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20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571500" y="1943100"/>
            <a:ext cx="5286375" cy="4676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20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6334125" y="1943100"/>
            <a:ext cx="5286375" cy="4676775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0"/>
          <p:cNvSpPr txBox="1"/>
          <p:nvPr/>
        </p:nvSpPr>
        <p:spPr>
          <a:xfrm>
            <a:off x="571500" y="1352550"/>
            <a:ext cx="76390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区别于传统招聘系统的“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简历审核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”，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本系统的管理端核心聚焦于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1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AI </a:t>
            </a:r>
            <a:r>
              <a:rPr lang="en-US" sz="1500" b="1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模型资产的控制与调度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。</a:t>
            </a:r>
          </a:p>
        </p:txBody>
      </p:sp>
      <p:sp>
        <p:nvSpPr>
          <p:cNvPr id="234" name="Google Shape;234;p20"/>
          <p:cNvSpPr txBox="1"/>
          <p:nvPr/>
        </p:nvSpPr>
        <p:spPr>
          <a:xfrm>
            <a:off x="962025" y="2333625"/>
            <a:ext cx="4730591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86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6B6D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Prompt 模板库管理</a:t>
            </a:r>
          </a:p>
        </p:txBody>
      </p:sp>
      <p:sp>
        <p:nvSpPr>
          <p:cNvPr id="235" name="Google Shape;235;p20"/>
          <p:cNvSpPr txBox="1"/>
          <p:nvPr/>
        </p:nvSpPr>
        <p:spPr>
          <a:xfrm>
            <a:off x="962025" y="2876550"/>
            <a:ext cx="463726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Prompt（提示词）决定了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AI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面试官的“智商”与“情商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”。</a:t>
            </a:r>
          </a:p>
        </p:txBody>
      </p:sp>
      <p:sp>
        <p:nvSpPr>
          <p:cNvPr id="236" name="Google Shape;236;p20"/>
          <p:cNvSpPr txBox="1"/>
          <p:nvPr/>
        </p:nvSpPr>
        <p:spPr>
          <a:xfrm>
            <a:off x="6724650" y="2333625"/>
            <a:ext cx="4730591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19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6B6D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API 密钥与会话监督</a:t>
            </a:r>
          </a:p>
        </p:txBody>
      </p:sp>
      <p:sp>
        <p:nvSpPr>
          <p:cNvPr id="237" name="Google Shape;237;p20"/>
          <p:cNvSpPr txBox="1"/>
          <p:nvPr/>
        </p:nvSpPr>
        <p:spPr>
          <a:xfrm>
            <a:off x="6724650" y="2876550"/>
            <a:ext cx="45053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保障系统的底层通信稳定与服务质量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。</a:t>
            </a:r>
          </a:p>
        </p:txBody>
      </p:sp>
      <p:pic>
        <p:nvPicPr>
          <p:cNvPr id="238" name="Google Shape;238;p20" descr="image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962025" y="2390775"/>
            <a:ext cx="33337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0"/>
          <p:cNvSpPr txBox="1"/>
          <p:nvPr/>
        </p:nvSpPr>
        <p:spPr>
          <a:xfrm>
            <a:off x="1085850" y="3629025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</a:p>
        </p:txBody>
      </p:sp>
      <p:sp>
        <p:nvSpPr>
          <p:cNvPr id="240" name="Google Shape;240;p20"/>
          <p:cNvSpPr txBox="1"/>
          <p:nvPr/>
        </p:nvSpPr>
        <p:spPr>
          <a:xfrm>
            <a:off x="1200150" y="3564493"/>
            <a:ext cx="4267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模板</a:t>
            </a:r>
            <a:r>
              <a:rPr lang="en-US" sz="1500" b="1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CRUD：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管理员可新增、测试和修改面试指令模板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。</a:t>
            </a:r>
          </a:p>
        </p:txBody>
      </p:sp>
      <p:sp>
        <p:nvSpPr>
          <p:cNvPr id="241" name="Google Shape;241;p20"/>
          <p:cNvSpPr txBox="1"/>
          <p:nvPr/>
        </p:nvSpPr>
        <p:spPr>
          <a:xfrm>
            <a:off x="1085850" y="438150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</a:p>
        </p:txBody>
      </p:sp>
      <p:sp>
        <p:nvSpPr>
          <p:cNvPr id="242" name="Google Shape;242;p20"/>
          <p:cNvSpPr txBox="1"/>
          <p:nvPr/>
        </p:nvSpPr>
        <p:spPr>
          <a:xfrm>
            <a:off x="1200150" y="4381500"/>
            <a:ext cx="42672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动态变量挂载</a:t>
            </a:r>
            <a:r>
              <a:rPr lang="en-US" sz="1500" b="1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：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模板支持插入动态变量，如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${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User_Resume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}, ${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Job_Description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}, ${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Interview_Style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}。</a:t>
            </a:r>
          </a:p>
        </p:txBody>
      </p:sp>
      <p:sp>
        <p:nvSpPr>
          <p:cNvPr id="243" name="Google Shape;243;p20"/>
          <p:cNvSpPr txBox="1"/>
          <p:nvPr/>
        </p:nvSpPr>
        <p:spPr>
          <a:xfrm>
            <a:off x="1085850" y="5476875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</a:p>
        </p:txBody>
      </p:sp>
      <p:sp>
        <p:nvSpPr>
          <p:cNvPr id="244" name="Google Shape;244;p20"/>
          <p:cNvSpPr txBox="1"/>
          <p:nvPr/>
        </p:nvSpPr>
        <p:spPr>
          <a:xfrm>
            <a:off x="1200150" y="5476875"/>
            <a:ext cx="4267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人设维护</a:t>
            </a:r>
            <a:r>
              <a:rPr lang="en-US" sz="1500" b="1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：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设定不同的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AI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面试官人设（如：严厉的技术总监、温和的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HR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专员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）。</a:t>
            </a:r>
          </a:p>
        </p:txBody>
      </p:sp>
      <p:pic>
        <p:nvPicPr>
          <p:cNvPr id="245" name="Google Shape;245;p20" descr="image.png"/>
          <p:cNvPicPr preferRelativeResize="0"/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6724650" y="2390775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0"/>
          <p:cNvSpPr txBox="1"/>
          <p:nvPr/>
        </p:nvSpPr>
        <p:spPr>
          <a:xfrm>
            <a:off x="6848475" y="3324225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</a:p>
        </p:txBody>
      </p:sp>
      <p:sp>
        <p:nvSpPr>
          <p:cNvPr id="247" name="Google Shape;247;p20"/>
          <p:cNvSpPr txBox="1"/>
          <p:nvPr/>
        </p:nvSpPr>
        <p:spPr>
          <a:xfrm>
            <a:off x="6962775" y="3324225"/>
            <a:ext cx="4267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密钥轮询机制</a:t>
            </a:r>
            <a:r>
              <a:rPr lang="en-US" sz="1500" b="1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：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动态配置多个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LLM (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如通义、文心、Kimi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) 的 API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Key，实现额度耗尽时的自动切换与故障转移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。</a:t>
            </a:r>
          </a:p>
        </p:txBody>
      </p:sp>
      <p:sp>
        <p:nvSpPr>
          <p:cNvPr id="248" name="Google Shape;248;p20"/>
          <p:cNvSpPr txBox="1"/>
          <p:nvPr/>
        </p:nvSpPr>
        <p:spPr>
          <a:xfrm>
            <a:off x="6848475" y="438150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</a:p>
        </p:txBody>
      </p:sp>
      <p:sp>
        <p:nvSpPr>
          <p:cNvPr id="249" name="Google Shape;249;p20"/>
          <p:cNvSpPr txBox="1"/>
          <p:nvPr/>
        </p:nvSpPr>
        <p:spPr>
          <a:xfrm>
            <a:off x="6962775" y="4381500"/>
            <a:ext cx="4267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会话流水监督</a:t>
            </a:r>
            <a:r>
              <a:rPr lang="en-US" sz="1500" b="1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：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匿名抽查对话日志，评估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AI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提问的合理性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。</a:t>
            </a:r>
          </a:p>
        </p:txBody>
      </p:sp>
      <p:sp>
        <p:nvSpPr>
          <p:cNvPr id="250" name="Google Shape;250;p20"/>
          <p:cNvSpPr txBox="1"/>
          <p:nvPr/>
        </p:nvSpPr>
        <p:spPr>
          <a:xfrm>
            <a:off x="6848475" y="5133975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</a:p>
        </p:txBody>
      </p:sp>
      <p:sp>
        <p:nvSpPr>
          <p:cNvPr id="251" name="Google Shape;251;p20"/>
          <p:cNvSpPr txBox="1"/>
          <p:nvPr/>
        </p:nvSpPr>
        <p:spPr>
          <a:xfrm>
            <a:off x="6962775" y="5133975"/>
            <a:ext cx="4267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价值观校验</a:t>
            </a:r>
            <a:r>
              <a:rPr lang="en-US" sz="1500" b="1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：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监督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AI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生成的评估报告，防止出现偏激或具有误导性的主观评价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。</a:t>
            </a:r>
          </a:p>
        </p:txBody>
      </p:sp>
      <p:sp>
        <p:nvSpPr>
          <p:cNvPr id="252" name="Google Shape;252;p20"/>
          <p:cNvSpPr txBox="1"/>
          <p:nvPr/>
        </p:nvSpPr>
        <p:spPr>
          <a:xfrm>
            <a:off x="571500" y="238125"/>
            <a:ext cx="1160145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 dirty="0">
                <a:solidFill>
                  <a:srgbClr val="F8FAF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08 </a:t>
            </a:r>
            <a:r>
              <a:rPr lang="en-US" sz="3000" b="0" i="0" u="none" strike="noStrike" cap="none" dirty="0" err="1">
                <a:solidFill>
                  <a:srgbClr val="3B82F6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核心用例描述：管理端子系统</a:t>
            </a:r>
            <a:endParaRPr lang="en-US" sz="3000" b="0" i="0" u="none" strike="noStrike" cap="none" dirty="0">
              <a:solidFill>
                <a:srgbClr val="3B82F6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53" name="Google Shape;253;p20"/>
          <p:cNvSpPr/>
          <p:nvPr/>
        </p:nvSpPr>
        <p:spPr>
          <a:xfrm>
            <a:off x="571500" y="952500"/>
            <a:ext cx="11049000" cy="190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Google Shape;258;p21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-15113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1"/>
          <p:cNvSpPr txBox="1"/>
          <p:nvPr/>
        </p:nvSpPr>
        <p:spPr>
          <a:xfrm>
            <a:off x="571500" y="571500"/>
            <a:ext cx="5550693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 dirty="0">
                <a:solidFill>
                  <a:srgbClr val="F8FAF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09 </a:t>
            </a:r>
            <a:r>
              <a:rPr lang="en-US" sz="3000" b="0" i="0" u="none" strike="noStrike" cap="none" dirty="0" err="1">
                <a:solidFill>
                  <a:srgbClr val="3B82F6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性能与接口需求</a:t>
            </a:r>
            <a:endParaRPr lang="en-US" sz="3000" b="0" i="0" u="none" strike="noStrike" cap="none" dirty="0">
              <a:solidFill>
                <a:srgbClr val="3B82F6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60" name="Google Shape;260;p21"/>
          <p:cNvSpPr/>
          <p:nvPr/>
        </p:nvSpPr>
        <p:spPr>
          <a:xfrm>
            <a:off x="571500" y="1285875"/>
            <a:ext cx="5286375" cy="190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1" name="Google Shape;261;p21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6334125" y="0"/>
            <a:ext cx="58578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1"/>
          <p:cNvSpPr txBox="1"/>
          <p:nvPr/>
        </p:nvSpPr>
        <p:spPr>
          <a:xfrm>
            <a:off x="571500" y="1685925"/>
            <a:ext cx="5550693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 err="1">
                <a:solidFill>
                  <a:srgbClr val="06B6D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核心性能指标</a:t>
            </a:r>
            <a:r>
              <a:rPr lang="en-US" sz="2100" b="0" i="0" u="none" strike="noStrike" cap="none" dirty="0">
                <a:solidFill>
                  <a:srgbClr val="06B6D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(Non-Functional)</a:t>
            </a:r>
          </a:p>
        </p:txBody>
      </p:sp>
      <p:sp>
        <p:nvSpPr>
          <p:cNvPr id="263" name="Google Shape;263;p21"/>
          <p:cNvSpPr txBox="1"/>
          <p:nvPr/>
        </p:nvSpPr>
        <p:spPr>
          <a:xfrm>
            <a:off x="571500" y="2228850"/>
            <a:ext cx="5286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为了保证“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真实对话感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”，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系统对延迟极其敏感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：</a:t>
            </a:r>
          </a:p>
        </p:txBody>
      </p:sp>
      <p:sp>
        <p:nvSpPr>
          <p:cNvPr id="264" name="Google Shape;264;p21"/>
          <p:cNvSpPr txBox="1"/>
          <p:nvPr/>
        </p:nvSpPr>
        <p:spPr>
          <a:xfrm>
            <a:off x="571499" y="4325817"/>
            <a:ext cx="5550693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 err="1">
                <a:solidFill>
                  <a:srgbClr val="06B6D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网络与接口需求</a:t>
            </a:r>
            <a:endParaRPr lang="en-US" sz="2100" b="0" i="0" u="none" strike="noStrike" cap="none" dirty="0">
              <a:solidFill>
                <a:srgbClr val="06B6D4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65" name="Google Shape;265;p21"/>
          <p:cNvSpPr txBox="1"/>
          <p:nvPr/>
        </p:nvSpPr>
        <p:spPr>
          <a:xfrm>
            <a:off x="838200" y="2698582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</a:p>
        </p:txBody>
      </p:sp>
      <p:sp>
        <p:nvSpPr>
          <p:cNvPr id="266" name="Google Shape;266;p21"/>
          <p:cNvSpPr txBox="1"/>
          <p:nvPr/>
        </p:nvSpPr>
        <p:spPr>
          <a:xfrm>
            <a:off x="952500" y="2625605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端到端延迟控制</a:t>
            </a:r>
            <a:r>
              <a:rPr lang="en-US" sz="1500" b="1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：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从用户语音输入完毕到听到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AI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第一句语音的响应时间，需严格控制在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1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2-4秒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内。</a:t>
            </a:r>
          </a:p>
        </p:txBody>
      </p:sp>
      <p:sp>
        <p:nvSpPr>
          <p:cNvPr id="267" name="Google Shape;267;p21"/>
          <p:cNvSpPr txBox="1"/>
          <p:nvPr/>
        </p:nvSpPr>
        <p:spPr>
          <a:xfrm>
            <a:off x="842433" y="3370777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</a:p>
        </p:txBody>
      </p:sp>
      <p:sp>
        <p:nvSpPr>
          <p:cNvPr id="268" name="Google Shape;268;p21"/>
          <p:cNvSpPr txBox="1"/>
          <p:nvPr/>
        </p:nvSpPr>
        <p:spPr>
          <a:xfrm>
            <a:off x="952500" y="3235205"/>
            <a:ext cx="49053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流式输出</a:t>
            </a:r>
            <a:r>
              <a:rPr lang="en-US" sz="1500" b="1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(Streaming)：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强制要求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LLM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接口支持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Server-Sent Events (SSE) 或 WebSocket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流式返回文本，同时流式驱动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TTS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合成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。</a:t>
            </a:r>
          </a:p>
        </p:txBody>
      </p:sp>
      <p:sp>
        <p:nvSpPr>
          <p:cNvPr id="269" name="Google Shape;269;p21"/>
          <p:cNvSpPr txBox="1"/>
          <p:nvPr/>
        </p:nvSpPr>
        <p:spPr>
          <a:xfrm>
            <a:off x="838200" y="4772666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</a:p>
        </p:txBody>
      </p:sp>
      <p:sp>
        <p:nvSpPr>
          <p:cNvPr id="270" name="Google Shape;270;p21"/>
          <p:cNvSpPr txBox="1"/>
          <p:nvPr/>
        </p:nvSpPr>
        <p:spPr>
          <a:xfrm>
            <a:off x="993775" y="4658437"/>
            <a:ext cx="5102225" cy="368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系统架构</a:t>
            </a:r>
            <a:r>
              <a:rPr lang="en-US" sz="1500" b="1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：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标准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B/S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架构，前端瘦客户端，后端处理重计算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。</a:t>
            </a:r>
          </a:p>
        </p:txBody>
      </p:sp>
      <p:sp>
        <p:nvSpPr>
          <p:cNvPr id="271" name="Google Shape;271;p21"/>
          <p:cNvSpPr txBox="1"/>
          <p:nvPr/>
        </p:nvSpPr>
        <p:spPr>
          <a:xfrm>
            <a:off x="838200" y="5351906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</a:p>
        </p:txBody>
      </p:sp>
      <p:sp>
        <p:nvSpPr>
          <p:cNvPr id="272" name="Google Shape;272;p21"/>
          <p:cNvSpPr txBox="1"/>
          <p:nvPr/>
        </p:nvSpPr>
        <p:spPr>
          <a:xfrm>
            <a:off x="952500" y="5301812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外部通信</a:t>
            </a:r>
            <a:r>
              <a:rPr lang="en-US" sz="1500" b="1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：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后端服务器必须建立高可用的出网连接，以调用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OpenAI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兼容格式的第三方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RESTful API。</a:t>
            </a:r>
          </a:p>
        </p:txBody>
      </p:sp>
      <p:sp>
        <p:nvSpPr>
          <p:cNvPr id="273" name="Google Shape;273;p21"/>
          <p:cNvSpPr txBox="1"/>
          <p:nvPr/>
        </p:nvSpPr>
        <p:spPr>
          <a:xfrm>
            <a:off x="838200" y="6086697"/>
            <a:ext cx="114300" cy="1601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</a:p>
        </p:txBody>
      </p:sp>
      <p:sp>
        <p:nvSpPr>
          <p:cNvPr id="274" name="Google Shape;274;p21"/>
          <p:cNvSpPr txBox="1"/>
          <p:nvPr/>
        </p:nvSpPr>
        <p:spPr>
          <a:xfrm>
            <a:off x="952500" y="6004440"/>
            <a:ext cx="4905375" cy="1601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状态机冗余</a:t>
            </a:r>
            <a:r>
              <a:rPr lang="en-US" sz="1500" b="1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：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具备网络防抖能力，遭遇短暂掉线时，上下文日志不丢失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9" name="Google Shape;279;p22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22"/>
          <p:cNvSpPr/>
          <p:nvPr/>
        </p:nvSpPr>
        <p:spPr>
          <a:xfrm>
            <a:off x="571500" y="1230808"/>
            <a:ext cx="9525000" cy="1497210"/>
          </a:xfrm>
          <a:prstGeom prst="roundRect">
            <a:avLst>
              <a:gd name="adj" fmla="val 5089"/>
            </a:avLst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2"/>
          <p:cNvSpPr txBox="1"/>
          <p:nvPr/>
        </p:nvSpPr>
        <p:spPr>
          <a:xfrm>
            <a:off x="1238250" y="1468933"/>
            <a:ext cx="8620125" cy="1020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严格的隐私与数据安全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简历包含极高的隐私数据（脱敏处理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）。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系统的对话记录与评估报告采取行列级权限控制，仅限求职者本人及授权管理员查看。系统需具备防恶意刷量脚本及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API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欠费预警拦截机制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。</a:t>
            </a:r>
          </a:p>
        </p:txBody>
      </p:sp>
      <p:sp>
        <p:nvSpPr>
          <p:cNvPr id="282" name="Google Shape;282;p22"/>
          <p:cNvSpPr/>
          <p:nvPr/>
        </p:nvSpPr>
        <p:spPr>
          <a:xfrm>
            <a:off x="571500" y="1230808"/>
            <a:ext cx="38100" cy="149721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2"/>
          <p:cNvSpPr/>
          <p:nvPr/>
        </p:nvSpPr>
        <p:spPr>
          <a:xfrm>
            <a:off x="571500" y="2966144"/>
            <a:ext cx="9525000" cy="1497210"/>
          </a:xfrm>
          <a:prstGeom prst="roundRect">
            <a:avLst>
              <a:gd name="adj" fmla="val 5089"/>
            </a:avLst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2"/>
          <p:cNvSpPr txBox="1"/>
          <p:nvPr/>
        </p:nvSpPr>
        <p:spPr>
          <a:xfrm>
            <a:off x="1238250" y="3204269"/>
            <a:ext cx="8620125" cy="1020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面向未来的可扩展性需求</a:t>
            </a:r>
            <a:r>
              <a:rPr lang="en-US" sz="1500" b="1" i="0" u="none" strike="noStrike" cap="none" dirty="0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 (Scalability)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底层模型调用采用策略模式封装。预留标准接口，以便未来可以无缝切换至更强大的大语言模型，甚至预留视频推流接口，便于未来接入视觉大模型进行“微表情分析”。</a:t>
            </a:r>
          </a:p>
        </p:txBody>
      </p:sp>
      <p:sp>
        <p:nvSpPr>
          <p:cNvPr id="285" name="Google Shape;285;p22"/>
          <p:cNvSpPr/>
          <p:nvPr/>
        </p:nvSpPr>
        <p:spPr>
          <a:xfrm>
            <a:off x="571500" y="2966144"/>
            <a:ext cx="38100" cy="149721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2"/>
          <p:cNvSpPr/>
          <p:nvPr/>
        </p:nvSpPr>
        <p:spPr>
          <a:xfrm>
            <a:off x="571500" y="4701480"/>
            <a:ext cx="9525000" cy="1802010"/>
          </a:xfrm>
          <a:prstGeom prst="roundRect">
            <a:avLst>
              <a:gd name="adj" fmla="val 4228"/>
            </a:avLst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2"/>
          <p:cNvSpPr txBox="1"/>
          <p:nvPr/>
        </p:nvSpPr>
        <p:spPr>
          <a:xfrm>
            <a:off x="1238250" y="4939605"/>
            <a:ext cx="8620125" cy="132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技术栈选型约束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出于团队技术栈考量：前端采用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React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构建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Web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界面；后端依托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Spring Boot (Java)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结合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SpringAI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框架处理逻辑；结构化关系数据存入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MySQL，而变长的对话历史与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JSON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评估报告则选用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MongoDB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存储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。</a:t>
            </a:r>
          </a:p>
        </p:txBody>
      </p:sp>
      <p:sp>
        <p:nvSpPr>
          <p:cNvPr id="288" name="Google Shape;288;p22"/>
          <p:cNvSpPr/>
          <p:nvPr/>
        </p:nvSpPr>
        <p:spPr>
          <a:xfrm>
            <a:off x="571500" y="4701480"/>
            <a:ext cx="38100" cy="180201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9" name="Google Shape;289;p22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847725" y="1478458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22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847725" y="3213794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22" descr="image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847725" y="4949130"/>
            <a:ext cx="25717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22"/>
          <p:cNvSpPr txBox="1"/>
          <p:nvPr/>
        </p:nvSpPr>
        <p:spPr>
          <a:xfrm>
            <a:off x="571500" y="116383"/>
            <a:ext cx="1160145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rgbClr val="F8FAF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10</a:t>
            </a:r>
            <a:r>
              <a:rPr lang="en-US" sz="3000" b="0" i="0" u="none" strike="noStrike" cap="none" dirty="0">
                <a:solidFill>
                  <a:srgbClr val="F8FAF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en-US" sz="3000" b="0" i="0" u="none" strike="noStrike" cap="none" dirty="0" err="1">
                <a:solidFill>
                  <a:srgbClr val="3B82F6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安全性需求与技术约束</a:t>
            </a:r>
            <a:endParaRPr lang="en-US" sz="3000" b="0" i="0" u="none" strike="noStrike" cap="none" dirty="0">
              <a:solidFill>
                <a:srgbClr val="3B82F6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93" name="Google Shape;293;p22"/>
          <p:cNvSpPr/>
          <p:nvPr/>
        </p:nvSpPr>
        <p:spPr>
          <a:xfrm>
            <a:off x="571500" y="830758"/>
            <a:ext cx="11049000" cy="190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8" name="Google Shape;298;p23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3"/>
          <p:cNvSpPr txBox="1"/>
          <p:nvPr/>
        </p:nvSpPr>
        <p:spPr>
          <a:xfrm>
            <a:off x="2715577" y="1431131"/>
            <a:ext cx="6760845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 dirty="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11 </a:t>
            </a:r>
            <a:r>
              <a:rPr lang="en-US" sz="4500" b="1" i="0" u="none" strike="noStrike" cap="none" dirty="0" err="1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需求验证与下一步计划</a:t>
            </a:r>
            <a:endParaRPr lang="en-US" sz="4500" b="1" i="0" u="none" strike="noStrike" cap="none" dirty="0">
              <a:solidFill>
                <a:srgbClr val="F8FAFC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00" name="Google Shape;300;p23"/>
          <p:cNvSpPr txBox="1"/>
          <p:nvPr/>
        </p:nvSpPr>
        <p:spPr>
          <a:xfrm>
            <a:off x="1809750" y="2460981"/>
            <a:ext cx="8572500" cy="3985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验证一致性</a:t>
            </a:r>
            <a:r>
              <a:rPr lang="en-US" sz="1800" b="1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：</a:t>
            </a:r>
            <a:r>
              <a:rPr lang="en-US" sz="18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团队已通过用例走查，确保了用例间的前置</a:t>
            </a:r>
            <a:r>
              <a:rPr lang="en-US" sz="18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/</a:t>
            </a:r>
            <a:r>
              <a:rPr lang="en-US" sz="180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后置条件无冲突（如：必须等简历异步解析成功，方可解锁面试配置面板</a:t>
            </a:r>
            <a:r>
              <a:rPr lang="en-US" sz="18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）。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1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边界异常处理</a:t>
            </a:r>
            <a:r>
              <a:rPr lang="en-US" sz="1800" b="1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：</a:t>
            </a:r>
            <a:r>
              <a:rPr lang="en-US" sz="18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补充了针对</a:t>
            </a:r>
            <a:r>
              <a:rPr lang="en-US" sz="18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AI </a:t>
            </a:r>
            <a:r>
              <a:rPr lang="en-US" sz="180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生成失败或简历解析失败时的“人工兜底输入”用例，增强了系统健壮性</a:t>
            </a:r>
            <a:r>
              <a:rPr lang="en-US" sz="18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。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1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下一步计划</a:t>
            </a:r>
            <a:r>
              <a:rPr lang="en-US" sz="1800" b="1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：</a:t>
            </a:r>
            <a:r>
              <a:rPr lang="en-US" sz="18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根据本次讨论课老师和同学的反馈，继续深化业务状态机，最终定稿并输出《软件工程</a:t>
            </a:r>
            <a:r>
              <a:rPr lang="zh-CN" altLang="en-US" sz="1800" dirty="0">
                <a:solidFill>
                  <a:srgbClr val="CBD5E1"/>
                </a:solidFill>
                <a:latin typeface="Lato"/>
                <a:cs typeface="Lato"/>
                <a:sym typeface="Lato"/>
              </a:rPr>
              <a:t>概要设计</a:t>
            </a:r>
            <a:r>
              <a:rPr lang="en-US" sz="180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说明书</a:t>
            </a:r>
            <a:r>
              <a:rPr lang="en-US" sz="18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》。</a:t>
            </a:r>
          </a:p>
        </p:txBody>
      </p:sp>
      <p:pic>
        <p:nvPicPr>
          <p:cNvPr id="301" name="Google Shape;301;p23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5715000" y="411956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23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1824050" y="2132381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23" descr="image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1824050" y="3629264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23" descr="image.png"/>
          <p:cNvPicPr preferRelativeResize="0"/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1824038" y="5075246"/>
            <a:ext cx="200025" cy="2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</TotalTime>
  <Words>905</Words>
  <Application>Microsoft Office PowerPoint</Application>
  <PresentationFormat>宽屏</PresentationFormat>
  <Paragraphs>126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9" baseType="lpstr">
      <vt:lpstr>Calibri</vt:lpstr>
      <vt:lpstr>Arial</vt:lpstr>
      <vt:lpstr>Poppins</vt:lpstr>
      <vt:lpstr>Lato</vt:lpstr>
      <vt:lpstr>Poppins Medium</vt:lpstr>
      <vt:lpstr>quote-cjk-patch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DbD</dc:creator>
  <cp:lastModifiedBy>海东 宋</cp:lastModifiedBy>
  <cp:revision>8</cp:revision>
  <dcterms:created xsi:type="dcterms:W3CDTF">2026-03-31T04:39:45Z</dcterms:created>
  <dcterms:modified xsi:type="dcterms:W3CDTF">2026-03-31T13:10:12Z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9362E0129C033301504FCB69315D4546_42</vt:lpwstr>
  </property>
  <property fmtid="{D5CDD505-2E9C-101B-9397-08002B2CF9AE}" pid="3" name="KSOProductBuildVer">
    <vt:lpwstr>2052-12.1.2.24722</vt:lpwstr>
  </property>
</Properties>
</file>